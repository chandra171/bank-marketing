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67" r:id="rId5"/>
    <p:sldId id="259" r:id="rId6"/>
    <p:sldId id="268" r:id="rId7"/>
    <p:sldId id="275" r:id="rId8"/>
    <p:sldId id="262" r:id="rId9"/>
    <p:sldId id="276" r:id="rId10"/>
    <p:sldId id="277" r:id="rId11"/>
    <p:sldId id="278" r:id="rId12"/>
    <p:sldId id="279" r:id="rId13"/>
    <p:sldId id="281" r:id="rId14"/>
    <p:sldId id="282" r:id="rId15"/>
    <p:sldId id="283" r:id="rId16"/>
    <p:sldId id="265" r:id="rId17"/>
    <p:sldId id="284" r:id="rId18"/>
    <p:sldId id="285" r:id="rId19"/>
    <p:sldId id="286" r:id="rId20"/>
    <p:sldId id="266" r:id="rId21"/>
  </p:sldIdLst>
  <p:sldSz cx="18288000" cy="10287000"/>
  <p:notesSz cx="6858000" cy="9144000"/>
  <p:embeddedFontLst>
    <p:embeddedFont>
      <p:font typeface="Anton" pitchFamily="2" charset="0"/>
      <p:regular r:id="rId23"/>
    </p:embeddedFont>
    <p:embeddedFont>
      <p:font typeface="Poppins" panose="00000500000000000000"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D294B3-92F0-419E-88F4-20AB6153D0D6}"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6799F-18DA-477E-B94A-9425DD90810B}" type="slidenum">
              <a:rPr lang="en-US" smtClean="0"/>
              <a:t>‹#›</a:t>
            </a:fld>
            <a:endParaRPr lang="en-US"/>
          </a:p>
        </p:txBody>
      </p:sp>
    </p:spTree>
    <p:extLst>
      <p:ext uri="{BB962C8B-B14F-4D97-AF65-F5344CB8AC3E}">
        <p14:creationId xmlns:p14="http://schemas.microsoft.com/office/powerpoint/2010/main" val="3526073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6799F-18DA-477E-B94A-9425DD90810B}" type="slidenum">
              <a:rPr lang="en-US" smtClean="0"/>
              <a:t>3</a:t>
            </a:fld>
            <a:endParaRPr lang="en-US"/>
          </a:p>
        </p:txBody>
      </p:sp>
    </p:spTree>
    <p:extLst>
      <p:ext uri="{BB962C8B-B14F-4D97-AF65-F5344CB8AC3E}">
        <p14:creationId xmlns:p14="http://schemas.microsoft.com/office/powerpoint/2010/main" val="9120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pic>
        <p:nvPicPr>
          <p:cNvPr id="16" name="Picture 15" descr="Profesi Data Analyst: Pekerjaan Bergengsi yang Dicari di Era AI | BINUS  Online">
            <a:extLst>
              <a:ext uri="{FF2B5EF4-FFF2-40B4-BE49-F238E27FC236}">
                <a16:creationId xmlns:a16="http://schemas.microsoft.com/office/drawing/2014/main" id="{EBEFFEC2-3149-4F42-9385-C4E5B2354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244" t="3841" r="4244" b="3841"/>
          <a:stretch>
            <a:fillRect/>
          </a:stretch>
        </p:blipFill>
        <p:spPr bwMode="auto">
          <a:xfrm>
            <a:off x="9512970" y="2171700"/>
            <a:ext cx="8382000" cy="5637131"/>
          </a:xfrm>
          <a:custGeom>
            <a:avLst/>
            <a:gdLst>
              <a:gd name="connsiteX0" fmla="*/ 939541 w 8382000"/>
              <a:gd name="connsiteY0" fmla="*/ 0 h 5637131"/>
              <a:gd name="connsiteX1" fmla="*/ 7442458 w 8382000"/>
              <a:gd name="connsiteY1" fmla="*/ 0 h 5637131"/>
              <a:gd name="connsiteX2" fmla="*/ 8382000 w 8382000"/>
              <a:gd name="connsiteY2" fmla="*/ 939541 h 5637131"/>
              <a:gd name="connsiteX3" fmla="*/ 8382000 w 8382000"/>
              <a:gd name="connsiteY3" fmla="*/ 4697590 h 5637131"/>
              <a:gd name="connsiteX4" fmla="*/ 7442458 w 8382000"/>
              <a:gd name="connsiteY4" fmla="*/ 5637131 h 5637131"/>
              <a:gd name="connsiteX5" fmla="*/ 939541 w 8382000"/>
              <a:gd name="connsiteY5" fmla="*/ 5637131 h 5637131"/>
              <a:gd name="connsiteX6" fmla="*/ 0 w 8382000"/>
              <a:gd name="connsiteY6" fmla="*/ 4697590 h 5637131"/>
              <a:gd name="connsiteX7" fmla="*/ 0 w 8382000"/>
              <a:gd name="connsiteY7" fmla="*/ 939541 h 5637131"/>
              <a:gd name="connsiteX8" fmla="*/ 939541 w 8382000"/>
              <a:gd name="connsiteY8" fmla="*/ 0 h 5637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82000" h="5637131">
                <a:moveTo>
                  <a:pt x="939541" y="0"/>
                </a:moveTo>
                <a:lnTo>
                  <a:pt x="7442458" y="0"/>
                </a:lnTo>
                <a:cubicBezTo>
                  <a:pt x="7961354" y="0"/>
                  <a:pt x="8382000" y="420647"/>
                  <a:pt x="8382000" y="939541"/>
                </a:cubicBezTo>
                <a:lnTo>
                  <a:pt x="8382000" y="4697590"/>
                </a:lnTo>
                <a:cubicBezTo>
                  <a:pt x="8382000" y="5216484"/>
                  <a:pt x="7961354" y="5637131"/>
                  <a:pt x="7442458" y="5637131"/>
                </a:cubicBezTo>
                <a:lnTo>
                  <a:pt x="939541" y="5637131"/>
                </a:lnTo>
                <a:cubicBezTo>
                  <a:pt x="420647" y="5637131"/>
                  <a:pt x="0" y="5216484"/>
                  <a:pt x="0" y="4697590"/>
                </a:cubicBezTo>
                <a:lnTo>
                  <a:pt x="0" y="939541"/>
                </a:lnTo>
                <a:cubicBezTo>
                  <a:pt x="0" y="420647"/>
                  <a:pt x="420647" y="0"/>
                  <a:pt x="939541" y="0"/>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4"/>
          <p:cNvSpPr txBox="1"/>
          <p:nvPr/>
        </p:nvSpPr>
        <p:spPr>
          <a:xfrm>
            <a:off x="1028700" y="2714153"/>
            <a:ext cx="9486900" cy="5027017"/>
          </a:xfrm>
          <a:prstGeom prst="rect">
            <a:avLst/>
          </a:prstGeom>
        </p:spPr>
        <p:txBody>
          <a:bodyPr wrap="square" lIns="0" tIns="0" rIns="0" bIns="0" rtlCol="0" anchor="t">
            <a:spAutoFit/>
          </a:bodyPr>
          <a:lstStyle/>
          <a:p>
            <a:pPr>
              <a:lnSpc>
                <a:spcPts val="9847"/>
              </a:lnSpc>
            </a:pPr>
            <a:r>
              <a:rPr lang="en-US" sz="8800" spc="53" dirty="0">
                <a:solidFill>
                  <a:srgbClr val="1C0770"/>
                </a:solidFill>
                <a:latin typeface="Anton"/>
                <a:ea typeface="Anton"/>
                <a:cs typeface="Anton"/>
                <a:sym typeface="Anton"/>
              </a:rPr>
              <a:t>Analyzing Factors Influencing </a:t>
            </a:r>
          </a:p>
          <a:p>
            <a:pPr>
              <a:lnSpc>
                <a:spcPts val="9847"/>
              </a:lnSpc>
            </a:pPr>
            <a:r>
              <a:rPr lang="en-US" sz="8800" spc="53" dirty="0">
                <a:solidFill>
                  <a:srgbClr val="1C0770"/>
                </a:solidFill>
                <a:latin typeface="Anton"/>
                <a:ea typeface="Anton"/>
                <a:cs typeface="Anton"/>
                <a:sym typeface="Anton"/>
              </a:rPr>
              <a:t>Deposit </a:t>
            </a:r>
          </a:p>
          <a:p>
            <a:pPr>
              <a:lnSpc>
                <a:spcPts val="9847"/>
              </a:lnSpc>
            </a:pPr>
            <a:r>
              <a:rPr lang="en-US" sz="8800" spc="53" dirty="0">
                <a:solidFill>
                  <a:srgbClr val="1C0770"/>
                </a:solidFill>
                <a:latin typeface="Anton"/>
                <a:ea typeface="Anton"/>
                <a:cs typeface="Anton"/>
                <a:sym typeface="Anton"/>
              </a:rPr>
              <a:t>Subscription</a:t>
            </a:r>
          </a:p>
        </p:txBody>
      </p:sp>
      <p:sp>
        <p:nvSpPr>
          <p:cNvPr id="5" name="AutoShape 5"/>
          <p:cNvSpPr/>
          <p:nvPr/>
        </p:nvSpPr>
        <p:spPr>
          <a:xfrm>
            <a:off x="1028700" y="7787080"/>
            <a:ext cx="7567207" cy="0"/>
          </a:xfrm>
          <a:prstGeom prst="line">
            <a:avLst/>
          </a:prstGeom>
          <a:ln w="38100" cap="flat">
            <a:solidFill>
              <a:srgbClr val="1C0770"/>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2"/>
          <p:cNvSpPr txBox="1"/>
          <p:nvPr/>
        </p:nvSpPr>
        <p:spPr>
          <a:xfrm>
            <a:off x="1028700" y="838200"/>
            <a:ext cx="10202012" cy="1781668"/>
          </a:xfrm>
          <a:prstGeom prst="rect">
            <a:avLst/>
          </a:prstGeom>
        </p:spPr>
        <p:txBody>
          <a:bodyPr lIns="0" tIns="0" rIns="0" bIns="0" rtlCol="0" anchor="t">
            <a:spAutoFit/>
          </a:bodyPr>
          <a:lstStyle/>
          <a:p>
            <a:pPr algn="l">
              <a:lnSpc>
                <a:spcPts val="14672"/>
              </a:lnSpc>
            </a:pPr>
            <a:r>
              <a:rPr lang="en-US" sz="10480" spc="52">
                <a:solidFill>
                  <a:srgbClr val="1C0770"/>
                </a:solidFill>
                <a:latin typeface="Anton"/>
                <a:ea typeface="Anton"/>
                <a:cs typeface="Anton"/>
                <a:sym typeface="Anton"/>
              </a:rPr>
              <a:t>TABLE OF CONTENT</a:t>
            </a:r>
          </a:p>
        </p:txBody>
      </p:sp>
      <p:sp>
        <p:nvSpPr>
          <p:cNvPr id="3" name="AutoShape 3"/>
          <p:cNvSpPr/>
          <p:nvPr/>
        </p:nvSpPr>
        <p:spPr>
          <a:xfrm>
            <a:off x="10515016" y="1804291"/>
            <a:ext cx="6492240" cy="0"/>
          </a:xfrm>
          <a:prstGeom prst="line">
            <a:avLst/>
          </a:prstGeom>
          <a:ln w="47625" cap="flat">
            <a:solidFill>
              <a:srgbClr val="1C0770"/>
            </a:solidFill>
            <a:prstDash val="solid"/>
            <a:headEnd type="none" w="sm" len="sm"/>
            <a:tailEnd type="triangle" w="lg" len="med"/>
          </a:ln>
        </p:spPr>
      </p:sp>
      <p:grpSp>
        <p:nvGrpSpPr>
          <p:cNvPr id="27" name="Group 27"/>
          <p:cNvGrpSpPr/>
          <p:nvPr/>
        </p:nvGrpSpPr>
        <p:grpSpPr>
          <a:xfrm>
            <a:off x="2934924" y="7027614"/>
            <a:ext cx="5600060" cy="1020630"/>
            <a:chOff x="0" y="0"/>
            <a:chExt cx="7466746" cy="1360840"/>
          </a:xfrm>
        </p:grpSpPr>
        <p:grpSp>
          <p:nvGrpSpPr>
            <p:cNvPr id="28" name="Group 28"/>
            <p:cNvGrpSpPr/>
            <p:nvPr/>
          </p:nvGrpSpPr>
          <p:grpSpPr>
            <a:xfrm>
              <a:off x="0" y="0"/>
              <a:ext cx="7466746" cy="1360840"/>
              <a:chOff x="0" y="0"/>
              <a:chExt cx="1853493" cy="337805"/>
            </a:xfrm>
          </p:grpSpPr>
          <p:sp>
            <p:nvSpPr>
              <p:cNvPr id="29" name="Freeform 29"/>
              <p:cNvSpPr/>
              <p:nvPr/>
            </p:nvSpPr>
            <p:spPr>
              <a:xfrm>
                <a:off x="0" y="0"/>
                <a:ext cx="1853493" cy="337805"/>
              </a:xfrm>
              <a:custGeom>
                <a:avLst/>
                <a:gdLst/>
                <a:ahLst/>
                <a:cxnLst/>
                <a:rect l="l" t="t" r="r" b="b"/>
                <a:pathLst>
                  <a:path w="1853493" h="337805">
                    <a:moveTo>
                      <a:pt x="66266" y="0"/>
                    </a:moveTo>
                    <a:lnTo>
                      <a:pt x="1787227" y="0"/>
                    </a:lnTo>
                    <a:cubicBezTo>
                      <a:pt x="1804802" y="0"/>
                      <a:pt x="1821657" y="6982"/>
                      <a:pt x="1834084" y="19409"/>
                    </a:cubicBezTo>
                    <a:cubicBezTo>
                      <a:pt x="1846511" y="31836"/>
                      <a:pt x="1853493" y="48691"/>
                      <a:pt x="1853493" y="66266"/>
                    </a:cubicBezTo>
                    <a:lnTo>
                      <a:pt x="1853493" y="271540"/>
                    </a:lnTo>
                    <a:cubicBezTo>
                      <a:pt x="1853493" y="289114"/>
                      <a:pt x="1846511" y="305969"/>
                      <a:pt x="1834084" y="318397"/>
                    </a:cubicBezTo>
                    <a:cubicBezTo>
                      <a:pt x="1821657" y="330824"/>
                      <a:pt x="1804802" y="337805"/>
                      <a:pt x="1787227" y="337805"/>
                    </a:cubicBezTo>
                    <a:lnTo>
                      <a:pt x="66266" y="337805"/>
                    </a:lnTo>
                    <a:cubicBezTo>
                      <a:pt x="29668" y="337805"/>
                      <a:pt x="0" y="308137"/>
                      <a:pt x="0" y="271540"/>
                    </a:cubicBezTo>
                    <a:lnTo>
                      <a:pt x="0" y="66266"/>
                    </a:lnTo>
                    <a:cubicBezTo>
                      <a:pt x="0" y="29668"/>
                      <a:pt x="29668" y="0"/>
                      <a:pt x="66266" y="0"/>
                    </a:cubicBezTo>
                    <a:close/>
                  </a:path>
                </a:pathLst>
              </a:custGeom>
              <a:ln w="38100" cap="rnd">
                <a:solidFill>
                  <a:srgbClr val="1C0770"/>
                </a:solidFill>
                <a:prstDash val="solid"/>
                <a:round/>
              </a:ln>
            </p:spPr>
          </p:sp>
          <p:sp>
            <p:nvSpPr>
              <p:cNvPr id="30" name="TextBox 30"/>
              <p:cNvSpPr txBox="1"/>
              <p:nvPr/>
            </p:nvSpPr>
            <p:spPr>
              <a:xfrm>
                <a:off x="0" y="-66675"/>
                <a:ext cx="1853493" cy="404480"/>
              </a:xfrm>
              <a:prstGeom prst="rect">
                <a:avLst/>
              </a:prstGeom>
            </p:spPr>
            <p:txBody>
              <a:bodyPr lIns="50800" tIns="50800" rIns="50800" bIns="50800" rtlCol="0" anchor="ctr"/>
              <a:lstStyle/>
              <a:p>
                <a:pPr algn="ctr">
                  <a:lnSpc>
                    <a:spcPts val="3499"/>
                  </a:lnSpc>
                </a:pPr>
                <a:endParaRPr/>
              </a:p>
            </p:txBody>
          </p:sp>
        </p:grpSp>
        <p:sp>
          <p:nvSpPr>
            <p:cNvPr id="31" name="TextBox 31"/>
            <p:cNvSpPr txBox="1"/>
            <p:nvPr/>
          </p:nvSpPr>
          <p:spPr>
            <a:xfrm>
              <a:off x="101060" y="304834"/>
              <a:ext cx="1292765" cy="763718"/>
            </a:xfrm>
            <a:prstGeom prst="rect">
              <a:avLst/>
            </a:prstGeom>
          </p:spPr>
          <p:txBody>
            <a:bodyPr lIns="0" tIns="0" rIns="0" bIns="0" rtlCol="0" anchor="t">
              <a:spAutoFit/>
            </a:bodyPr>
            <a:lstStyle/>
            <a:p>
              <a:pPr algn="ctr">
                <a:lnSpc>
                  <a:spcPts val="4825"/>
                </a:lnSpc>
              </a:pPr>
              <a:r>
                <a:rPr lang="en-US" sz="3446" spc="17" dirty="0">
                  <a:solidFill>
                    <a:srgbClr val="1C0770"/>
                  </a:solidFill>
                  <a:latin typeface="Anton"/>
                  <a:ea typeface="Anton"/>
                  <a:cs typeface="Anton"/>
                  <a:sym typeface="Anton"/>
                </a:rPr>
                <a:t>03</a:t>
              </a:r>
            </a:p>
          </p:txBody>
        </p:sp>
        <p:sp>
          <p:nvSpPr>
            <p:cNvPr id="32" name="TextBox 32"/>
            <p:cNvSpPr txBox="1"/>
            <p:nvPr/>
          </p:nvSpPr>
          <p:spPr>
            <a:xfrm>
              <a:off x="1429112" y="278700"/>
              <a:ext cx="5946681" cy="750241"/>
            </a:xfrm>
            <a:prstGeom prst="rect">
              <a:avLst/>
            </a:prstGeom>
          </p:spPr>
          <p:txBody>
            <a:bodyPr lIns="0" tIns="0" rIns="0" bIns="0" rtlCol="0" anchor="t">
              <a:spAutoFit/>
            </a:bodyPr>
            <a:lstStyle/>
            <a:p>
              <a:pPr algn="l">
                <a:lnSpc>
                  <a:spcPts val="4534"/>
                </a:lnSpc>
              </a:pPr>
              <a:r>
                <a:rPr lang="en-US" sz="3239" spc="16" dirty="0">
                  <a:solidFill>
                    <a:srgbClr val="1C0770"/>
                  </a:solidFill>
                  <a:latin typeface="Poppins"/>
                  <a:ea typeface="Poppins"/>
                  <a:cs typeface="Poppins"/>
                  <a:sym typeface="Poppins"/>
                </a:rPr>
                <a:t>Analysis Results</a:t>
              </a:r>
            </a:p>
          </p:txBody>
        </p:sp>
      </p:grpSp>
      <p:grpSp>
        <p:nvGrpSpPr>
          <p:cNvPr id="4" name="Group 3">
            <a:extLst>
              <a:ext uri="{FF2B5EF4-FFF2-40B4-BE49-F238E27FC236}">
                <a16:creationId xmlns:a16="http://schemas.microsoft.com/office/drawing/2014/main" id="{C9255B83-2B35-6CF3-DC5E-3D6651A9A569}"/>
              </a:ext>
            </a:extLst>
          </p:cNvPr>
          <p:cNvGrpSpPr/>
          <p:nvPr/>
        </p:nvGrpSpPr>
        <p:grpSpPr>
          <a:xfrm>
            <a:off x="9591660" y="4468428"/>
            <a:ext cx="5600060" cy="944774"/>
            <a:chOff x="9749004" y="5821230"/>
            <a:chExt cx="5600060" cy="944774"/>
          </a:xfrm>
        </p:grpSpPr>
        <p:grpSp>
          <p:nvGrpSpPr>
            <p:cNvPr id="38" name="Group 38"/>
            <p:cNvGrpSpPr/>
            <p:nvPr/>
          </p:nvGrpSpPr>
          <p:grpSpPr>
            <a:xfrm>
              <a:off x="9749004" y="5821230"/>
              <a:ext cx="5600060" cy="944774"/>
              <a:chOff x="0" y="0"/>
              <a:chExt cx="2002310" cy="337805"/>
            </a:xfrm>
          </p:grpSpPr>
          <p:sp>
            <p:nvSpPr>
              <p:cNvPr id="39" name="Freeform 39"/>
              <p:cNvSpPr/>
              <p:nvPr/>
            </p:nvSpPr>
            <p:spPr>
              <a:xfrm>
                <a:off x="0" y="0"/>
                <a:ext cx="2002310" cy="337805"/>
              </a:xfrm>
              <a:custGeom>
                <a:avLst/>
                <a:gdLst/>
                <a:ahLst/>
                <a:cxnLst/>
                <a:rect l="l" t="t" r="r" b="b"/>
                <a:pathLst>
                  <a:path w="2002310" h="337805">
                    <a:moveTo>
                      <a:pt x="70506" y="0"/>
                    </a:moveTo>
                    <a:lnTo>
                      <a:pt x="1931804" y="0"/>
                    </a:lnTo>
                    <a:cubicBezTo>
                      <a:pt x="1950503" y="0"/>
                      <a:pt x="1968437" y="7428"/>
                      <a:pt x="1981659" y="20651"/>
                    </a:cubicBezTo>
                    <a:cubicBezTo>
                      <a:pt x="1994882" y="33873"/>
                      <a:pt x="2002310" y="51807"/>
                      <a:pt x="2002310" y="70506"/>
                    </a:cubicBezTo>
                    <a:lnTo>
                      <a:pt x="2002310" y="267299"/>
                    </a:lnTo>
                    <a:cubicBezTo>
                      <a:pt x="2002310" y="306239"/>
                      <a:pt x="1970743" y="337805"/>
                      <a:pt x="1931804" y="337805"/>
                    </a:cubicBezTo>
                    <a:lnTo>
                      <a:pt x="70506" y="337805"/>
                    </a:lnTo>
                    <a:cubicBezTo>
                      <a:pt x="31567" y="337805"/>
                      <a:pt x="0" y="306239"/>
                      <a:pt x="0" y="267299"/>
                    </a:cubicBezTo>
                    <a:lnTo>
                      <a:pt x="0" y="70506"/>
                    </a:lnTo>
                    <a:cubicBezTo>
                      <a:pt x="0" y="31567"/>
                      <a:pt x="31567" y="0"/>
                      <a:pt x="70506" y="0"/>
                    </a:cubicBezTo>
                    <a:close/>
                  </a:path>
                </a:pathLst>
              </a:custGeom>
              <a:ln w="38100" cap="rnd">
                <a:solidFill>
                  <a:srgbClr val="1C0770"/>
                </a:solidFill>
                <a:prstDash val="solid"/>
                <a:round/>
              </a:ln>
            </p:spPr>
          </p:sp>
          <p:sp>
            <p:nvSpPr>
              <p:cNvPr id="40" name="TextBox 40"/>
              <p:cNvSpPr txBox="1"/>
              <p:nvPr/>
            </p:nvSpPr>
            <p:spPr>
              <a:xfrm>
                <a:off x="0" y="-66675"/>
                <a:ext cx="2002310" cy="404480"/>
              </a:xfrm>
              <a:prstGeom prst="rect">
                <a:avLst/>
              </a:prstGeom>
            </p:spPr>
            <p:txBody>
              <a:bodyPr lIns="44196" tIns="44196" rIns="44196" bIns="44196" rtlCol="0" anchor="ctr"/>
              <a:lstStyle/>
              <a:p>
                <a:pPr algn="ctr">
                  <a:lnSpc>
                    <a:spcPts val="3499"/>
                  </a:lnSpc>
                </a:pPr>
                <a:endParaRPr/>
              </a:p>
            </p:txBody>
          </p:sp>
        </p:grpSp>
        <p:sp>
          <p:nvSpPr>
            <p:cNvPr id="41" name="TextBox 41"/>
            <p:cNvSpPr txBox="1"/>
            <p:nvPr/>
          </p:nvSpPr>
          <p:spPr>
            <a:xfrm>
              <a:off x="9824799" y="6022003"/>
              <a:ext cx="969574" cy="541077"/>
            </a:xfrm>
            <a:prstGeom prst="rect">
              <a:avLst/>
            </a:prstGeom>
          </p:spPr>
          <p:txBody>
            <a:bodyPr lIns="0" tIns="0" rIns="0" bIns="0" rtlCol="0" anchor="t">
              <a:spAutoFit/>
            </a:bodyPr>
            <a:lstStyle/>
            <a:p>
              <a:pPr algn="ctr">
                <a:lnSpc>
                  <a:spcPts val="4467"/>
                </a:lnSpc>
              </a:pPr>
              <a:r>
                <a:rPr lang="en-US" sz="3190" spc="15" dirty="0">
                  <a:solidFill>
                    <a:srgbClr val="1C0770"/>
                  </a:solidFill>
                  <a:latin typeface="Anton"/>
                  <a:ea typeface="Anton"/>
                  <a:cs typeface="Anton"/>
                  <a:sym typeface="Anton"/>
                </a:rPr>
                <a:t>04</a:t>
              </a:r>
            </a:p>
          </p:txBody>
        </p:sp>
        <p:sp>
          <p:nvSpPr>
            <p:cNvPr id="42" name="TextBox 42"/>
            <p:cNvSpPr txBox="1"/>
            <p:nvPr/>
          </p:nvSpPr>
          <p:spPr>
            <a:xfrm>
              <a:off x="10664865" y="6004648"/>
              <a:ext cx="4460010" cy="530933"/>
            </a:xfrm>
            <a:prstGeom prst="rect">
              <a:avLst/>
            </a:prstGeom>
          </p:spPr>
          <p:txBody>
            <a:bodyPr lIns="0" tIns="0" rIns="0" bIns="0" rtlCol="0" anchor="t">
              <a:spAutoFit/>
            </a:bodyPr>
            <a:lstStyle/>
            <a:p>
              <a:pPr algn="l">
                <a:lnSpc>
                  <a:spcPts val="4197"/>
                </a:lnSpc>
              </a:pPr>
              <a:r>
                <a:rPr lang="en-US" sz="2998" spc="14" dirty="0">
                  <a:solidFill>
                    <a:srgbClr val="1C0770"/>
                  </a:solidFill>
                  <a:latin typeface="Poppins"/>
                  <a:ea typeface="Poppins"/>
                  <a:cs typeface="Poppins"/>
                  <a:sym typeface="Poppins"/>
                </a:rPr>
                <a:t>Conclusion</a:t>
              </a:r>
            </a:p>
          </p:txBody>
        </p:sp>
      </p:grpSp>
      <p:grpSp>
        <p:nvGrpSpPr>
          <p:cNvPr id="49" name="Group 21">
            <a:extLst>
              <a:ext uri="{FF2B5EF4-FFF2-40B4-BE49-F238E27FC236}">
                <a16:creationId xmlns:a16="http://schemas.microsoft.com/office/drawing/2014/main" id="{19E74D61-1825-40BD-B759-6A4FDE491C96}"/>
              </a:ext>
            </a:extLst>
          </p:cNvPr>
          <p:cNvGrpSpPr/>
          <p:nvPr/>
        </p:nvGrpSpPr>
        <p:grpSpPr>
          <a:xfrm>
            <a:off x="2934925" y="4457700"/>
            <a:ext cx="5600060" cy="955502"/>
            <a:chOff x="0" y="0"/>
            <a:chExt cx="7466746" cy="1274003"/>
          </a:xfrm>
        </p:grpSpPr>
        <p:grpSp>
          <p:nvGrpSpPr>
            <p:cNvPr id="50" name="Group 22">
              <a:extLst>
                <a:ext uri="{FF2B5EF4-FFF2-40B4-BE49-F238E27FC236}">
                  <a16:creationId xmlns:a16="http://schemas.microsoft.com/office/drawing/2014/main" id="{B91F0F6D-26C0-4C63-AF56-BBB251E62C81}"/>
                </a:ext>
              </a:extLst>
            </p:cNvPr>
            <p:cNvGrpSpPr/>
            <p:nvPr/>
          </p:nvGrpSpPr>
          <p:grpSpPr>
            <a:xfrm>
              <a:off x="0" y="0"/>
              <a:ext cx="7466746" cy="1274003"/>
              <a:chOff x="0" y="0"/>
              <a:chExt cx="1979829" cy="337805"/>
            </a:xfrm>
          </p:grpSpPr>
          <p:sp>
            <p:nvSpPr>
              <p:cNvPr id="53" name="Freeform 23">
                <a:extLst>
                  <a:ext uri="{FF2B5EF4-FFF2-40B4-BE49-F238E27FC236}">
                    <a16:creationId xmlns:a16="http://schemas.microsoft.com/office/drawing/2014/main" id="{2421A8F3-938A-4CCB-B586-10FFE84B6F20}"/>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54" name="TextBox 24">
                <a:extLst>
                  <a:ext uri="{FF2B5EF4-FFF2-40B4-BE49-F238E27FC236}">
                    <a16:creationId xmlns:a16="http://schemas.microsoft.com/office/drawing/2014/main" id="{6D78CBFF-A4C6-4D4C-A945-687852BCF7ED}"/>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51" name="TextBox 25">
              <a:extLst>
                <a:ext uri="{FF2B5EF4-FFF2-40B4-BE49-F238E27FC236}">
                  <a16:creationId xmlns:a16="http://schemas.microsoft.com/office/drawing/2014/main" id="{1AA55205-ADF2-4E15-A78E-F5D5759696A7}"/>
                </a:ext>
              </a:extLst>
            </p:cNvPr>
            <p:cNvSpPr txBox="1"/>
            <p:nvPr/>
          </p:nvSpPr>
          <p:spPr>
            <a:xfrm>
              <a:off x="101060" y="244045"/>
              <a:ext cx="1292765" cy="719238"/>
            </a:xfrm>
            <a:prstGeom prst="rect">
              <a:avLst/>
            </a:prstGeom>
          </p:spPr>
          <p:txBody>
            <a:bodyPr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01</a:t>
              </a:r>
            </a:p>
          </p:txBody>
        </p:sp>
        <p:sp>
          <p:nvSpPr>
            <p:cNvPr id="52" name="TextBox 26">
              <a:extLst>
                <a:ext uri="{FF2B5EF4-FFF2-40B4-BE49-F238E27FC236}">
                  <a16:creationId xmlns:a16="http://schemas.microsoft.com/office/drawing/2014/main" id="{11C41A81-9BD7-46E3-A073-F737F92D1132}"/>
                </a:ext>
              </a:extLst>
            </p:cNvPr>
            <p:cNvSpPr txBox="1"/>
            <p:nvPr/>
          </p:nvSpPr>
          <p:spPr>
            <a:xfrm>
              <a:off x="1408900" y="235154"/>
              <a:ext cx="5037032" cy="708445"/>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Problem Statement</a:t>
              </a:r>
            </a:p>
          </p:txBody>
        </p:sp>
      </p:grpSp>
      <p:grpSp>
        <p:nvGrpSpPr>
          <p:cNvPr id="55" name="Group 21">
            <a:extLst>
              <a:ext uri="{FF2B5EF4-FFF2-40B4-BE49-F238E27FC236}">
                <a16:creationId xmlns:a16="http://schemas.microsoft.com/office/drawing/2014/main" id="{49A58A06-8C77-4614-880A-36F83FC1B3F0}"/>
              </a:ext>
            </a:extLst>
          </p:cNvPr>
          <p:cNvGrpSpPr/>
          <p:nvPr/>
        </p:nvGrpSpPr>
        <p:grpSpPr>
          <a:xfrm>
            <a:off x="2934924" y="5773605"/>
            <a:ext cx="5600060" cy="955502"/>
            <a:chOff x="0" y="0"/>
            <a:chExt cx="7466746" cy="1274003"/>
          </a:xfrm>
        </p:grpSpPr>
        <p:grpSp>
          <p:nvGrpSpPr>
            <p:cNvPr id="56" name="Group 22">
              <a:extLst>
                <a:ext uri="{FF2B5EF4-FFF2-40B4-BE49-F238E27FC236}">
                  <a16:creationId xmlns:a16="http://schemas.microsoft.com/office/drawing/2014/main" id="{FE56B73F-8E0B-4D4C-AC63-0E7629DBEF2A}"/>
                </a:ext>
              </a:extLst>
            </p:cNvPr>
            <p:cNvGrpSpPr/>
            <p:nvPr/>
          </p:nvGrpSpPr>
          <p:grpSpPr>
            <a:xfrm>
              <a:off x="0" y="0"/>
              <a:ext cx="7466746" cy="1274003"/>
              <a:chOff x="0" y="0"/>
              <a:chExt cx="1979829" cy="337805"/>
            </a:xfrm>
          </p:grpSpPr>
          <p:sp>
            <p:nvSpPr>
              <p:cNvPr id="59" name="Freeform 23">
                <a:extLst>
                  <a:ext uri="{FF2B5EF4-FFF2-40B4-BE49-F238E27FC236}">
                    <a16:creationId xmlns:a16="http://schemas.microsoft.com/office/drawing/2014/main" id="{7030CCCB-B419-4BB0-B2EF-ECE6F020ED7A}"/>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60" name="TextBox 24">
                <a:extLst>
                  <a:ext uri="{FF2B5EF4-FFF2-40B4-BE49-F238E27FC236}">
                    <a16:creationId xmlns:a16="http://schemas.microsoft.com/office/drawing/2014/main" id="{BAF5B866-229A-4258-820D-541F801C720E}"/>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57" name="TextBox 25">
              <a:extLst>
                <a:ext uri="{FF2B5EF4-FFF2-40B4-BE49-F238E27FC236}">
                  <a16:creationId xmlns:a16="http://schemas.microsoft.com/office/drawing/2014/main" id="{1CC6CE79-428A-4226-BB00-90A4FAE19A84}"/>
                </a:ext>
              </a:extLst>
            </p:cNvPr>
            <p:cNvSpPr txBox="1"/>
            <p:nvPr/>
          </p:nvSpPr>
          <p:spPr>
            <a:xfrm>
              <a:off x="101060" y="244045"/>
              <a:ext cx="1292765" cy="719238"/>
            </a:xfrm>
            <a:prstGeom prst="rect">
              <a:avLst/>
            </a:prstGeom>
          </p:spPr>
          <p:txBody>
            <a:bodyPr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02</a:t>
              </a:r>
            </a:p>
          </p:txBody>
        </p:sp>
        <p:sp>
          <p:nvSpPr>
            <p:cNvPr id="58" name="TextBox 26">
              <a:extLst>
                <a:ext uri="{FF2B5EF4-FFF2-40B4-BE49-F238E27FC236}">
                  <a16:creationId xmlns:a16="http://schemas.microsoft.com/office/drawing/2014/main" id="{B91740A9-0615-4357-B90E-C2E1844D873F}"/>
                </a:ext>
              </a:extLst>
            </p:cNvPr>
            <p:cNvSpPr txBox="1"/>
            <p:nvPr/>
          </p:nvSpPr>
          <p:spPr>
            <a:xfrm>
              <a:off x="1408900" y="235154"/>
              <a:ext cx="5037032" cy="708445"/>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Business Question</a:t>
              </a:r>
            </a:p>
          </p:txBody>
        </p:sp>
      </p:grpSp>
      <p:grpSp>
        <p:nvGrpSpPr>
          <p:cNvPr id="5" name="Group 4">
            <a:extLst>
              <a:ext uri="{FF2B5EF4-FFF2-40B4-BE49-F238E27FC236}">
                <a16:creationId xmlns:a16="http://schemas.microsoft.com/office/drawing/2014/main" id="{EE386C39-9FD1-3A91-CB22-AD858254DA41}"/>
              </a:ext>
            </a:extLst>
          </p:cNvPr>
          <p:cNvGrpSpPr/>
          <p:nvPr/>
        </p:nvGrpSpPr>
        <p:grpSpPr>
          <a:xfrm>
            <a:off x="9586216" y="5858330"/>
            <a:ext cx="5600060" cy="944774"/>
            <a:chOff x="9749004" y="7051491"/>
            <a:chExt cx="5600060" cy="944774"/>
          </a:xfrm>
        </p:grpSpPr>
        <p:grpSp>
          <p:nvGrpSpPr>
            <p:cNvPr id="79" name="Group 38">
              <a:extLst>
                <a:ext uri="{FF2B5EF4-FFF2-40B4-BE49-F238E27FC236}">
                  <a16:creationId xmlns:a16="http://schemas.microsoft.com/office/drawing/2014/main" id="{31D6CCC8-DD77-4704-899E-94851BD4AC6D}"/>
                </a:ext>
              </a:extLst>
            </p:cNvPr>
            <p:cNvGrpSpPr/>
            <p:nvPr/>
          </p:nvGrpSpPr>
          <p:grpSpPr>
            <a:xfrm>
              <a:off x="9749004" y="7051491"/>
              <a:ext cx="5600060" cy="944774"/>
              <a:chOff x="0" y="0"/>
              <a:chExt cx="2002310" cy="337805"/>
            </a:xfrm>
          </p:grpSpPr>
          <p:sp>
            <p:nvSpPr>
              <p:cNvPr id="80" name="Freeform 39">
                <a:extLst>
                  <a:ext uri="{FF2B5EF4-FFF2-40B4-BE49-F238E27FC236}">
                    <a16:creationId xmlns:a16="http://schemas.microsoft.com/office/drawing/2014/main" id="{0FCD4E05-5286-43FA-8662-8FBF19C527ED}"/>
                  </a:ext>
                </a:extLst>
              </p:cNvPr>
              <p:cNvSpPr/>
              <p:nvPr/>
            </p:nvSpPr>
            <p:spPr>
              <a:xfrm>
                <a:off x="0" y="0"/>
                <a:ext cx="2002310" cy="337805"/>
              </a:xfrm>
              <a:custGeom>
                <a:avLst/>
                <a:gdLst/>
                <a:ahLst/>
                <a:cxnLst/>
                <a:rect l="l" t="t" r="r" b="b"/>
                <a:pathLst>
                  <a:path w="2002310" h="337805">
                    <a:moveTo>
                      <a:pt x="70506" y="0"/>
                    </a:moveTo>
                    <a:lnTo>
                      <a:pt x="1931804" y="0"/>
                    </a:lnTo>
                    <a:cubicBezTo>
                      <a:pt x="1950503" y="0"/>
                      <a:pt x="1968437" y="7428"/>
                      <a:pt x="1981659" y="20651"/>
                    </a:cubicBezTo>
                    <a:cubicBezTo>
                      <a:pt x="1994882" y="33873"/>
                      <a:pt x="2002310" y="51807"/>
                      <a:pt x="2002310" y="70506"/>
                    </a:cubicBezTo>
                    <a:lnTo>
                      <a:pt x="2002310" y="267299"/>
                    </a:lnTo>
                    <a:cubicBezTo>
                      <a:pt x="2002310" y="306239"/>
                      <a:pt x="1970743" y="337805"/>
                      <a:pt x="1931804" y="337805"/>
                    </a:cubicBezTo>
                    <a:lnTo>
                      <a:pt x="70506" y="337805"/>
                    </a:lnTo>
                    <a:cubicBezTo>
                      <a:pt x="31567" y="337805"/>
                      <a:pt x="0" y="306239"/>
                      <a:pt x="0" y="267299"/>
                    </a:cubicBezTo>
                    <a:lnTo>
                      <a:pt x="0" y="70506"/>
                    </a:lnTo>
                    <a:cubicBezTo>
                      <a:pt x="0" y="31567"/>
                      <a:pt x="31567" y="0"/>
                      <a:pt x="70506" y="0"/>
                    </a:cubicBezTo>
                    <a:close/>
                  </a:path>
                </a:pathLst>
              </a:custGeom>
              <a:ln w="38100" cap="rnd">
                <a:solidFill>
                  <a:srgbClr val="1C0770"/>
                </a:solidFill>
                <a:prstDash val="solid"/>
                <a:round/>
              </a:ln>
            </p:spPr>
          </p:sp>
          <p:sp>
            <p:nvSpPr>
              <p:cNvPr id="81" name="TextBox 40">
                <a:extLst>
                  <a:ext uri="{FF2B5EF4-FFF2-40B4-BE49-F238E27FC236}">
                    <a16:creationId xmlns:a16="http://schemas.microsoft.com/office/drawing/2014/main" id="{C0BFBF93-5236-4D39-ADAC-CF19CDF05EAA}"/>
                  </a:ext>
                </a:extLst>
              </p:cNvPr>
              <p:cNvSpPr txBox="1"/>
              <p:nvPr/>
            </p:nvSpPr>
            <p:spPr>
              <a:xfrm>
                <a:off x="0" y="-66675"/>
                <a:ext cx="2002310" cy="404480"/>
              </a:xfrm>
              <a:prstGeom prst="rect">
                <a:avLst/>
              </a:prstGeom>
            </p:spPr>
            <p:txBody>
              <a:bodyPr lIns="44196" tIns="44196" rIns="44196" bIns="44196" rtlCol="0" anchor="ctr"/>
              <a:lstStyle/>
              <a:p>
                <a:pPr algn="ctr">
                  <a:lnSpc>
                    <a:spcPts val="3499"/>
                  </a:lnSpc>
                </a:pPr>
                <a:endParaRPr/>
              </a:p>
            </p:txBody>
          </p:sp>
        </p:grpSp>
        <p:sp>
          <p:nvSpPr>
            <p:cNvPr id="82" name="TextBox 41">
              <a:extLst>
                <a:ext uri="{FF2B5EF4-FFF2-40B4-BE49-F238E27FC236}">
                  <a16:creationId xmlns:a16="http://schemas.microsoft.com/office/drawing/2014/main" id="{322FA655-F535-4B84-8D9E-8FC1A90D1D2C}"/>
                </a:ext>
              </a:extLst>
            </p:cNvPr>
            <p:cNvSpPr txBox="1"/>
            <p:nvPr/>
          </p:nvSpPr>
          <p:spPr>
            <a:xfrm>
              <a:off x="9824799" y="7252264"/>
              <a:ext cx="969574" cy="541077"/>
            </a:xfrm>
            <a:prstGeom prst="rect">
              <a:avLst/>
            </a:prstGeom>
          </p:spPr>
          <p:txBody>
            <a:bodyPr lIns="0" tIns="0" rIns="0" bIns="0" rtlCol="0" anchor="t">
              <a:spAutoFit/>
            </a:bodyPr>
            <a:lstStyle/>
            <a:p>
              <a:pPr algn="ctr">
                <a:lnSpc>
                  <a:spcPts val="4467"/>
                </a:lnSpc>
              </a:pPr>
              <a:r>
                <a:rPr lang="en-US" sz="3190" spc="15" dirty="0">
                  <a:solidFill>
                    <a:srgbClr val="1C0770"/>
                  </a:solidFill>
                  <a:latin typeface="Anton"/>
                  <a:ea typeface="Anton"/>
                  <a:cs typeface="Anton"/>
                  <a:sym typeface="Anton"/>
                </a:rPr>
                <a:t>05</a:t>
              </a:r>
            </a:p>
          </p:txBody>
        </p:sp>
        <p:sp>
          <p:nvSpPr>
            <p:cNvPr id="83" name="TextBox 42">
              <a:extLst>
                <a:ext uri="{FF2B5EF4-FFF2-40B4-BE49-F238E27FC236}">
                  <a16:creationId xmlns:a16="http://schemas.microsoft.com/office/drawing/2014/main" id="{3664C176-5FEE-42B6-B9CF-67C1919E52EF}"/>
                </a:ext>
              </a:extLst>
            </p:cNvPr>
            <p:cNvSpPr txBox="1"/>
            <p:nvPr/>
          </p:nvSpPr>
          <p:spPr>
            <a:xfrm>
              <a:off x="10664865" y="7234909"/>
              <a:ext cx="4460010" cy="530933"/>
            </a:xfrm>
            <a:prstGeom prst="rect">
              <a:avLst/>
            </a:prstGeom>
          </p:spPr>
          <p:txBody>
            <a:bodyPr lIns="0" tIns="0" rIns="0" bIns="0" rtlCol="0" anchor="t">
              <a:spAutoFit/>
            </a:bodyPr>
            <a:lstStyle/>
            <a:p>
              <a:pPr algn="l">
                <a:lnSpc>
                  <a:spcPts val="4197"/>
                </a:lnSpc>
              </a:pPr>
              <a:r>
                <a:rPr lang="en-US" sz="2998" spc="14" dirty="0">
                  <a:solidFill>
                    <a:srgbClr val="1C0770"/>
                  </a:solidFill>
                  <a:latin typeface="Poppins"/>
                  <a:ea typeface="Poppins"/>
                  <a:cs typeface="Poppins"/>
                  <a:sym typeface="Poppins"/>
                </a:rPr>
                <a:t>Recommendations</a:t>
              </a:r>
            </a:p>
          </p:txBody>
        </p:sp>
      </p:grpSp>
      <p:grpSp>
        <p:nvGrpSpPr>
          <p:cNvPr id="6" name="Group 5">
            <a:extLst>
              <a:ext uri="{FF2B5EF4-FFF2-40B4-BE49-F238E27FC236}">
                <a16:creationId xmlns:a16="http://schemas.microsoft.com/office/drawing/2014/main" id="{0156897E-0250-62D1-8CC6-CFCFE8566997}"/>
              </a:ext>
            </a:extLst>
          </p:cNvPr>
          <p:cNvGrpSpPr/>
          <p:nvPr/>
        </p:nvGrpSpPr>
        <p:grpSpPr>
          <a:xfrm>
            <a:off x="9606818" y="7075285"/>
            <a:ext cx="5600060" cy="944774"/>
            <a:chOff x="9749004" y="7051491"/>
            <a:chExt cx="5600060" cy="944774"/>
          </a:xfrm>
        </p:grpSpPr>
        <p:grpSp>
          <p:nvGrpSpPr>
            <p:cNvPr id="7" name="Group 38">
              <a:extLst>
                <a:ext uri="{FF2B5EF4-FFF2-40B4-BE49-F238E27FC236}">
                  <a16:creationId xmlns:a16="http://schemas.microsoft.com/office/drawing/2014/main" id="{3F8843AB-3FEA-688D-FB73-3880A3774548}"/>
                </a:ext>
              </a:extLst>
            </p:cNvPr>
            <p:cNvGrpSpPr/>
            <p:nvPr/>
          </p:nvGrpSpPr>
          <p:grpSpPr>
            <a:xfrm>
              <a:off x="9749004" y="7051491"/>
              <a:ext cx="5600060" cy="944774"/>
              <a:chOff x="0" y="0"/>
              <a:chExt cx="2002310" cy="337805"/>
            </a:xfrm>
          </p:grpSpPr>
          <p:sp>
            <p:nvSpPr>
              <p:cNvPr id="10" name="Freeform 39">
                <a:extLst>
                  <a:ext uri="{FF2B5EF4-FFF2-40B4-BE49-F238E27FC236}">
                    <a16:creationId xmlns:a16="http://schemas.microsoft.com/office/drawing/2014/main" id="{0982C9E6-EC73-375C-D4B0-7D9D4B660F79}"/>
                  </a:ext>
                </a:extLst>
              </p:cNvPr>
              <p:cNvSpPr/>
              <p:nvPr/>
            </p:nvSpPr>
            <p:spPr>
              <a:xfrm>
                <a:off x="0" y="0"/>
                <a:ext cx="2002310" cy="337805"/>
              </a:xfrm>
              <a:custGeom>
                <a:avLst/>
                <a:gdLst/>
                <a:ahLst/>
                <a:cxnLst/>
                <a:rect l="l" t="t" r="r" b="b"/>
                <a:pathLst>
                  <a:path w="2002310" h="337805">
                    <a:moveTo>
                      <a:pt x="70506" y="0"/>
                    </a:moveTo>
                    <a:lnTo>
                      <a:pt x="1931804" y="0"/>
                    </a:lnTo>
                    <a:cubicBezTo>
                      <a:pt x="1950503" y="0"/>
                      <a:pt x="1968437" y="7428"/>
                      <a:pt x="1981659" y="20651"/>
                    </a:cubicBezTo>
                    <a:cubicBezTo>
                      <a:pt x="1994882" y="33873"/>
                      <a:pt x="2002310" y="51807"/>
                      <a:pt x="2002310" y="70506"/>
                    </a:cubicBezTo>
                    <a:lnTo>
                      <a:pt x="2002310" y="267299"/>
                    </a:lnTo>
                    <a:cubicBezTo>
                      <a:pt x="2002310" y="306239"/>
                      <a:pt x="1970743" y="337805"/>
                      <a:pt x="1931804" y="337805"/>
                    </a:cubicBezTo>
                    <a:lnTo>
                      <a:pt x="70506" y="337805"/>
                    </a:lnTo>
                    <a:cubicBezTo>
                      <a:pt x="31567" y="337805"/>
                      <a:pt x="0" y="306239"/>
                      <a:pt x="0" y="267299"/>
                    </a:cubicBezTo>
                    <a:lnTo>
                      <a:pt x="0" y="70506"/>
                    </a:lnTo>
                    <a:cubicBezTo>
                      <a:pt x="0" y="31567"/>
                      <a:pt x="31567" y="0"/>
                      <a:pt x="70506" y="0"/>
                    </a:cubicBezTo>
                    <a:close/>
                  </a:path>
                </a:pathLst>
              </a:custGeom>
              <a:ln w="38100" cap="rnd">
                <a:solidFill>
                  <a:srgbClr val="1C0770"/>
                </a:solidFill>
                <a:prstDash val="solid"/>
                <a:round/>
              </a:ln>
            </p:spPr>
          </p:sp>
          <p:sp>
            <p:nvSpPr>
              <p:cNvPr id="11" name="TextBox 40">
                <a:extLst>
                  <a:ext uri="{FF2B5EF4-FFF2-40B4-BE49-F238E27FC236}">
                    <a16:creationId xmlns:a16="http://schemas.microsoft.com/office/drawing/2014/main" id="{976C7A53-2455-F798-75BB-FEF9EAE7B5B8}"/>
                  </a:ext>
                </a:extLst>
              </p:cNvPr>
              <p:cNvSpPr txBox="1"/>
              <p:nvPr/>
            </p:nvSpPr>
            <p:spPr>
              <a:xfrm>
                <a:off x="0" y="-66675"/>
                <a:ext cx="2002310" cy="404480"/>
              </a:xfrm>
              <a:prstGeom prst="rect">
                <a:avLst/>
              </a:prstGeom>
            </p:spPr>
            <p:txBody>
              <a:bodyPr lIns="44196" tIns="44196" rIns="44196" bIns="44196" rtlCol="0" anchor="ctr"/>
              <a:lstStyle/>
              <a:p>
                <a:pPr algn="ctr">
                  <a:lnSpc>
                    <a:spcPts val="3499"/>
                  </a:lnSpc>
                </a:pPr>
                <a:endParaRPr/>
              </a:p>
            </p:txBody>
          </p:sp>
        </p:grpSp>
        <p:sp>
          <p:nvSpPr>
            <p:cNvPr id="8" name="TextBox 41">
              <a:extLst>
                <a:ext uri="{FF2B5EF4-FFF2-40B4-BE49-F238E27FC236}">
                  <a16:creationId xmlns:a16="http://schemas.microsoft.com/office/drawing/2014/main" id="{1F56256E-EE1E-5821-A669-2E16EC0599CA}"/>
                </a:ext>
              </a:extLst>
            </p:cNvPr>
            <p:cNvSpPr txBox="1"/>
            <p:nvPr/>
          </p:nvSpPr>
          <p:spPr>
            <a:xfrm>
              <a:off x="9824799" y="7252264"/>
              <a:ext cx="969574" cy="541077"/>
            </a:xfrm>
            <a:prstGeom prst="rect">
              <a:avLst/>
            </a:prstGeom>
          </p:spPr>
          <p:txBody>
            <a:bodyPr lIns="0" tIns="0" rIns="0" bIns="0" rtlCol="0" anchor="t">
              <a:spAutoFit/>
            </a:bodyPr>
            <a:lstStyle/>
            <a:p>
              <a:pPr algn="ctr">
                <a:lnSpc>
                  <a:spcPts val="4467"/>
                </a:lnSpc>
              </a:pPr>
              <a:r>
                <a:rPr lang="en-US" sz="3190" spc="15" dirty="0">
                  <a:solidFill>
                    <a:srgbClr val="1C0770"/>
                  </a:solidFill>
                  <a:latin typeface="Anton"/>
                  <a:ea typeface="Anton"/>
                  <a:cs typeface="Anton"/>
                  <a:sym typeface="Anton"/>
                </a:rPr>
                <a:t>06</a:t>
              </a:r>
            </a:p>
          </p:txBody>
        </p:sp>
        <p:sp>
          <p:nvSpPr>
            <p:cNvPr id="9" name="TextBox 42">
              <a:extLst>
                <a:ext uri="{FF2B5EF4-FFF2-40B4-BE49-F238E27FC236}">
                  <a16:creationId xmlns:a16="http://schemas.microsoft.com/office/drawing/2014/main" id="{9FDA8830-99B0-C3D1-25CE-B71BDBB69043}"/>
                </a:ext>
              </a:extLst>
            </p:cNvPr>
            <p:cNvSpPr txBox="1"/>
            <p:nvPr/>
          </p:nvSpPr>
          <p:spPr>
            <a:xfrm>
              <a:off x="10664865" y="7234909"/>
              <a:ext cx="4460010" cy="530933"/>
            </a:xfrm>
            <a:prstGeom prst="rect">
              <a:avLst/>
            </a:prstGeom>
          </p:spPr>
          <p:txBody>
            <a:bodyPr lIns="0" tIns="0" rIns="0" bIns="0" rtlCol="0" anchor="t">
              <a:spAutoFit/>
            </a:bodyPr>
            <a:lstStyle/>
            <a:p>
              <a:pPr algn="l">
                <a:lnSpc>
                  <a:spcPts val="4197"/>
                </a:lnSpc>
              </a:pPr>
              <a:r>
                <a:rPr lang="en-US" sz="2998" spc="14" dirty="0">
                  <a:solidFill>
                    <a:srgbClr val="1C0770"/>
                  </a:solidFill>
                  <a:latin typeface="Poppins"/>
                  <a:ea typeface="Poppins"/>
                  <a:cs typeface="Poppins"/>
                  <a:sym typeface="Poppins"/>
                </a:rPr>
                <a:t>Dashboard</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grpSp>
        <p:nvGrpSpPr>
          <p:cNvPr id="2" name="Group 2"/>
          <p:cNvGrpSpPr/>
          <p:nvPr/>
        </p:nvGrpSpPr>
        <p:grpSpPr>
          <a:xfrm>
            <a:off x="-4564896" y="0"/>
            <a:ext cx="10661840" cy="1066184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2700" r="-17163"/>
              </a:stretch>
            </a:blipFill>
            <a:ln w="57150" cap="sq">
              <a:solidFill>
                <a:srgbClr val="1C0770"/>
              </a:solidFill>
              <a:prstDash val="solid"/>
              <a:miter/>
            </a:ln>
          </p:spPr>
        </p:sp>
      </p:grpSp>
      <p:sp>
        <p:nvSpPr>
          <p:cNvPr id="8" name="TextBox 8"/>
          <p:cNvSpPr txBox="1"/>
          <p:nvPr/>
        </p:nvSpPr>
        <p:spPr>
          <a:xfrm>
            <a:off x="6669505" y="2095500"/>
            <a:ext cx="10453674" cy="6309548"/>
          </a:xfrm>
          <a:prstGeom prst="rect">
            <a:avLst/>
          </a:prstGeom>
        </p:spPr>
        <p:txBody>
          <a:bodyPr wrap="square" lIns="0" tIns="0" rIns="0" bIns="0" rtlCol="0" anchor="t">
            <a:spAutoFit/>
          </a:bodyPr>
          <a:lstStyle/>
          <a:p>
            <a:pPr marL="457200" indent="-457200">
              <a:lnSpc>
                <a:spcPts val="3754"/>
              </a:lnSpc>
              <a:buFont typeface="Arial" panose="020B0604020202020204" pitchFamily="34" charset="0"/>
              <a:buChar char="•"/>
            </a:pPr>
            <a:r>
              <a:rPr lang="en-US" sz="2681" dirty="0">
                <a:solidFill>
                  <a:srgbClr val="1C0770"/>
                </a:solidFill>
                <a:latin typeface="Poppins"/>
                <a:ea typeface="Poppins"/>
                <a:cs typeface="Poppins"/>
                <a:sym typeface="Poppins"/>
              </a:rPr>
              <a:t>Banks routinely conduct telemarketing campaigns to offer term deposit products to customers. However, each marketing activity requires significant operational costs, labor, and time. On the other hand, not all contacted customers are willing to open a deposit.</a:t>
            </a:r>
          </a:p>
          <a:p>
            <a:pPr marL="457200" indent="-457200">
              <a:lnSpc>
                <a:spcPts val="3754"/>
              </a:lnSpc>
              <a:buFont typeface="Arial" panose="020B0604020202020204" pitchFamily="34" charset="0"/>
              <a:buChar char="•"/>
            </a:pPr>
            <a:endParaRPr lang="en-US" sz="2681" dirty="0">
              <a:solidFill>
                <a:srgbClr val="1C0770"/>
              </a:solidFill>
              <a:latin typeface="Poppins"/>
              <a:ea typeface="Poppins"/>
              <a:cs typeface="Poppins"/>
              <a:sym typeface="Poppins"/>
            </a:endParaRPr>
          </a:p>
          <a:p>
            <a:pPr marL="457200" indent="-457200">
              <a:lnSpc>
                <a:spcPts val="3754"/>
              </a:lnSpc>
              <a:buFont typeface="Arial" panose="020B0604020202020204" pitchFamily="34" charset="0"/>
              <a:buChar char="•"/>
            </a:pPr>
            <a:r>
              <a:rPr lang="en-US" sz="2681" dirty="0">
                <a:solidFill>
                  <a:srgbClr val="1C0770"/>
                </a:solidFill>
                <a:latin typeface="Poppins"/>
                <a:ea typeface="Poppins"/>
                <a:cs typeface="Poppins"/>
                <a:sym typeface="Poppins"/>
              </a:rPr>
              <a:t>Without knowing the characteristics of customers who are more likely to accept the offer and the factors influencing campaign success, the bank risks allocating marketing resources inefficiently. Therefore, an analysis of historical data is required to understand campaign success patterns so that subsequent marketing strategies can be more accurately targeted.</a:t>
            </a:r>
          </a:p>
        </p:txBody>
      </p:sp>
      <p:grpSp>
        <p:nvGrpSpPr>
          <p:cNvPr id="12" name="Group 4">
            <a:extLst>
              <a:ext uri="{FF2B5EF4-FFF2-40B4-BE49-F238E27FC236}">
                <a16:creationId xmlns:a16="http://schemas.microsoft.com/office/drawing/2014/main" id="{38FED342-B3CD-4908-8D26-C921FC44360B}"/>
              </a:ext>
            </a:extLst>
          </p:cNvPr>
          <p:cNvGrpSpPr/>
          <p:nvPr/>
        </p:nvGrpSpPr>
        <p:grpSpPr>
          <a:xfrm>
            <a:off x="6392330" y="190500"/>
            <a:ext cx="10502249" cy="1375257"/>
            <a:chOff x="0" y="0"/>
            <a:chExt cx="1976948" cy="362208"/>
          </a:xfrm>
        </p:grpSpPr>
        <p:sp>
          <p:nvSpPr>
            <p:cNvPr id="13" name="Freeform 5">
              <a:extLst>
                <a:ext uri="{FF2B5EF4-FFF2-40B4-BE49-F238E27FC236}">
                  <a16:creationId xmlns:a16="http://schemas.microsoft.com/office/drawing/2014/main" id="{70637078-A0EF-439A-8878-8D1CE3DCDE88}"/>
                </a:ext>
              </a:extLst>
            </p:cNvPr>
            <p:cNvSpPr/>
            <p:nvPr/>
          </p:nvSpPr>
          <p:spPr>
            <a:xfrm>
              <a:off x="0" y="0"/>
              <a:ext cx="1976949" cy="362208"/>
            </a:xfrm>
            <a:prstGeom prst="flowChartAlternateProcess">
              <a:avLst/>
            </a:prstGeom>
            <a:solidFill>
              <a:srgbClr val="1C0770"/>
            </a:solidFill>
          </p:spPr>
        </p:sp>
        <p:sp>
          <p:nvSpPr>
            <p:cNvPr id="14" name="TextBox 6">
              <a:extLst>
                <a:ext uri="{FF2B5EF4-FFF2-40B4-BE49-F238E27FC236}">
                  <a16:creationId xmlns:a16="http://schemas.microsoft.com/office/drawing/2014/main" id="{4E0157BA-F65B-472E-848B-5A07CC53E8DC}"/>
                </a:ext>
              </a:extLst>
            </p:cNvPr>
            <p:cNvSpPr txBox="1"/>
            <p:nvPr/>
          </p:nvSpPr>
          <p:spPr>
            <a:xfrm>
              <a:off x="0" y="-66675"/>
              <a:ext cx="1976948" cy="428883"/>
            </a:xfrm>
            <a:prstGeom prst="flowChartAlternateProcess">
              <a:avLst/>
            </a:prstGeom>
          </p:spPr>
          <p:txBody>
            <a:bodyPr lIns="50800" tIns="50800" rIns="50800" bIns="50800" rtlCol="0" anchor="ctr"/>
            <a:lstStyle/>
            <a:p>
              <a:pPr algn="ctr">
                <a:lnSpc>
                  <a:spcPts val="3499"/>
                </a:lnSpc>
              </a:pPr>
              <a:endParaRPr/>
            </a:p>
          </p:txBody>
        </p:sp>
      </p:grpSp>
      <p:sp>
        <p:nvSpPr>
          <p:cNvPr id="15" name="TextBox 7">
            <a:extLst>
              <a:ext uri="{FF2B5EF4-FFF2-40B4-BE49-F238E27FC236}">
                <a16:creationId xmlns:a16="http://schemas.microsoft.com/office/drawing/2014/main" id="{0C575397-EBE8-41EC-864B-DD40FB5BC51D}"/>
              </a:ext>
            </a:extLst>
          </p:cNvPr>
          <p:cNvSpPr txBox="1"/>
          <p:nvPr/>
        </p:nvSpPr>
        <p:spPr>
          <a:xfrm>
            <a:off x="6669505" y="180384"/>
            <a:ext cx="9896449" cy="1345176"/>
          </a:xfrm>
          <a:prstGeom prst="rect">
            <a:avLst/>
          </a:prstGeom>
        </p:spPr>
        <p:txBody>
          <a:bodyPr wrap="square" lIns="0" tIns="0" rIns="0" bIns="0" rtlCol="0" anchor="t">
            <a:spAutoFit/>
          </a:bodyPr>
          <a:lstStyle/>
          <a:p>
            <a:pPr algn="ctr">
              <a:lnSpc>
                <a:spcPts val="11150"/>
              </a:lnSpc>
            </a:pPr>
            <a:r>
              <a:rPr lang="en-US" sz="7200" spc="39" dirty="0">
                <a:solidFill>
                  <a:srgbClr val="F5F6F8"/>
                </a:solidFill>
                <a:latin typeface="Anton"/>
                <a:ea typeface="Anton"/>
                <a:cs typeface="Anton"/>
                <a:sym typeface="Anton"/>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918600" y="106411"/>
            <a:ext cx="10502249" cy="1375257"/>
            <a:chOff x="0" y="0"/>
            <a:chExt cx="1976948" cy="362208"/>
          </a:xfrm>
        </p:grpSpPr>
        <p:sp>
          <p:nvSpPr>
            <p:cNvPr id="5" name="Freeform 5"/>
            <p:cNvSpPr/>
            <p:nvPr/>
          </p:nvSpPr>
          <p:spPr>
            <a:xfrm>
              <a:off x="0" y="0"/>
              <a:ext cx="1976949" cy="362208"/>
            </a:xfrm>
            <a:prstGeom prst="flowChartAlternateProcess">
              <a:avLst/>
            </a:prstGeom>
            <a:solidFill>
              <a:srgbClr val="1C0770"/>
            </a:solidFill>
          </p:spPr>
        </p:sp>
        <p:sp>
          <p:nvSpPr>
            <p:cNvPr id="6" name="TextBox 6"/>
            <p:cNvSpPr txBox="1"/>
            <p:nvPr/>
          </p:nvSpPr>
          <p:spPr>
            <a:xfrm>
              <a:off x="0" y="-66675"/>
              <a:ext cx="1976948" cy="428883"/>
            </a:xfrm>
            <a:prstGeom prst="flowChartAlternateProcess">
              <a:avLst/>
            </a:prstGeom>
          </p:spPr>
          <p:txBody>
            <a:bodyPr lIns="50800" tIns="50800" rIns="50800" bIns="50800" rtlCol="0" anchor="ctr"/>
            <a:lstStyle/>
            <a:p>
              <a:pPr algn="ctr">
                <a:lnSpc>
                  <a:spcPts val="3499"/>
                </a:lnSpc>
              </a:pPr>
              <a:endParaRPr/>
            </a:p>
          </p:txBody>
        </p:sp>
      </p:grpSp>
      <p:sp>
        <p:nvSpPr>
          <p:cNvPr id="7" name="TextBox 7"/>
          <p:cNvSpPr txBox="1"/>
          <p:nvPr/>
        </p:nvSpPr>
        <p:spPr>
          <a:xfrm>
            <a:off x="4195775" y="114300"/>
            <a:ext cx="9896449" cy="1345176"/>
          </a:xfrm>
          <a:prstGeom prst="rect">
            <a:avLst/>
          </a:prstGeom>
        </p:spPr>
        <p:txBody>
          <a:bodyPr wrap="square" lIns="0" tIns="0" rIns="0" bIns="0" rtlCol="0" anchor="t">
            <a:spAutoFit/>
          </a:bodyPr>
          <a:lstStyle/>
          <a:p>
            <a:pPr algn="ctr">
              <a:lnSpc>
                <a:spcPts val="11150"/>
              </a:lnSpc>
            </a:pPr>
            <a:r>
              <a:rPr lang="en-US" sz="7964" spc="39" dirty="0">
                <a:solidFill>
                  <a:srgbClr val="F5F6F8"/>
                </a:solidFill>
                <a:latin typeface="Anton"/>
                <a:ea typeface="Anton"/>
                <a:cs typeface="Anton"/>
                <a:sym typeface="Anton"/>
              </a:rPr>
              <a:t>Problem Statement</a:t>
            </a:r>
          </a:p>
        </p:txBody>
      </p:sp>
      <p:sp>
        <p:nvSpPr>
          <p:cNvPr id="11" name="TextBox 8">
            <a:extLst>
              <a:ext uri="{FF2B5EF4-FFF2-40B4-BE49-F238E27FC236}">
                <a16:creationId xmlns:a16="http://schemas.microsoft.com/office/drawing/2014/main" id="{060DAE11-D428-4975-9D11-9F8969ACB4EB}"/>
              </a:ext>
            </a:extLst>
          </p:cNvPr>
          <p:cNvSpPr txBox="1"/>
          <p:nvPr/>
        </p:nvSpPr>
        <p:spPr>
          <a:xfrm>
            <a:off x="533400" y="1707610"/>
            <a:ext cx="16992599" cy="7288405"/>
          </a:xfrm>
          <a:prstGeom prst="rect">
            <a:avLst/>
          </a:prstGeom>
        </p:spPr>
        <p:txBody>
          <a:bodyPr wrap="square" lIns="0" tIns="0" rIns="0" bIns="0" rtlCol="0" anchor="t">
            <a:spAutoFit/>
          </a:bodyPr>
          <a:lstStyle/>
          <a:p>
            <a:pPr>
              <a:lnSpc>
                <a:spcPts val="3754"/>
              </a:lnSpc>
            </a:pPr>
            <a:r>
              <a:rPr lang="en-US" sz="2680" dirty="0">
                <a:solidFill>
                  <a:srgbClr val="002060"/>
                </a:solidFill>
                <a:latin typeface="Poppins" panose="00000500000000000000" pitchFamily="2" charset="0"/>
                <a:ea typeface="Poppins"/>
                <a:cs typeface="Poppins" panose="00000500000000000000" pitchFamily="2" charset="0"/>
                <a:sym typeface="Poppins"/>
              </a:rPr>
              <a:t>SMART Method :</a:t>
            </a:r>
          </a:p>
          <a:p>
            <a:pPr marL="457200"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Specific : Identifying customer characteristics and campaign factors associated with customers' decisions to subscribe to term deposits</a:t>
            </a:r>
            <a:endParaRPr lang="en-US" sz="2680" b="0" i="0" dirty="0">
              <a:solidFill>
                <a:srgbClr val="002060"/>
              </a:solidFill>
              <a:effectLst/>
              <a:latin typeface="Poppins" panose="00000500000000000000" pitchFamily="2" charset="0"/>
              <a:cs typeface="Poppins" panose="00000500000000000000" pitchFamily="2" charset="0"/>
            </a:endParaRPr>
          </a:p>
          <a:p>
            <a:pPr marL="457200"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Measurable : Identifying factors that have a significant relationship with campaign success and measuring the conversion rate across each customer segment.</a:t>
            </a:r>
            <a:endParaRPr lang="en-US" sz="2680" b="0" i="0" dirty="0">
              <a:solidFill>
                <a:srgbClr val="002060"/>
              </a:solidFill>
              <a:effectLst/>
              <a:latin typeface="Poppins" panose="00000500000000000000" pitchFamily="2" charset="0"/>
              <a:cs typeface="Poppins" panose="00000500000000000000" pitchFamily="2" charset="0"/>
              <a:sym typeface="Poppins"/>
            </a:endParaRPr>
          </a:p>
          <a:p>
            <a:pPr marL="457200"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Achievable : Formulating campaign strategy recommendations based on historical data analysis insights to help enhance campaign effectiveness.</a:t>
            </a:r>
          </a:p>
          <a:p>
            <a:pPr marL="457200"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Relevant : </a:t>
            </a:r>
          </a:p>
          <a:p>
            <a:pPr marL="914400" lvl="1"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 Bank can understand the characteristics of potential customers who are likely to subscribe to term deposits.</a:t>
            </a:r>
          </a:p>
          <a:p>
            <a:pPr marL="914400" lvl="1"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Bank can evaluate campaign strategies effectively.</a:t>
            </a:r>
          </a:p>
          <a:p>
            <a:pPr marL="914400" lvl="1"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Bank can make data-driven, more effective decisions and improve resource efficiency.</a:t>
            </a:r>
          </a:p>
          <a:p>
            <a:pPr marL="457200" indent="-457200">
              <a:lnSpc>
                <a:spcPts val="3754"/>
              </a:lnSpc>
              <a:buFont typeface="Arial" panose="020B0604020202020204" pitchFamily="34" charset="0"/>
              <a:buChar char="•"/>
            </a:pPr>
            <a:r>
              <a:rPr lang="en-US" sz="2680" dirty="0">
                <a:solidFill>
                  <a:srgbClr val="002060"/>
                </a:solidFill>
                <a:latin typeface="Poppins" panose="00000500000000000000" pitchFamily="2" charset="0"/>
                <a:ea typeface="Poppins"/>
                <a:cs typeface="Poppins" panose="00000500000000000000" pitchFamily="2" charset="0"/>
                <a:sym typeface="Poppins"/>
              </a:rPr>
              <a:t>Time Bound : The analysis is conducted using historical data as the foundation for formulating campaign strategy recommendations that can be implemented in the subsequent campaign period.</a:t>
            </a:r>
          </a:p>
        </p:txBody>
      </p:sp>
    </p:spTree>
    <p:extLst>
      <p:ext uri="{BB962C8B-B14F-4D97-AF65-F5344CB8AC3E}">
        <p14:creationId xmlns:p14="http://schemas.microsoft.com/office/powerpoint/2010/main" val="3983377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grpSp>
        <p:nvGrpSpPr>
          <p:cNvPr id="7" name="Group 7"/>
          <p:cNvGrpSpPr/>
          <p:nvPr/>
        </p:nvGrpSpPr>
        <p:grpSpPr>
          <a:xfrm>
            <a:off x="676358" y="361950"/>
            <a:ext cx="8517301" cy="1375257"/>
            <a:chOff x="0" y="0"/>
            <a:chExt cx="2243240" cy="362208"/>
          </a:xfrm>
        </p:grpSpPr>
        <p:sp>
          <p:nvSpPr>
            <p:cNvPr id="8" name="Freeform 8"/>
            <p:cNvSpPr/>
            <p:nvPr/>
          </p:nvSpPr>
          <p:spPr>
            <a:xfrm>
              <a:off x="0" y="0"/>
              <a:ext cx="2243240" cy="362208"/>
            </a:xfrm>
            <a:prstGeom prst="flowChartAlternateProcess">
              <a:avLst/>
            </a:prstGeom>
            <a:solidFill>
              <a:srgbClr val="1C0770"/>
            </a:solidFill>
          </p:spPr>
        </p:sp>
        <p:sp>
          <p:nvSpPr>
            <p:cNvPr id="9" name="TextBox 9"/>
            <p:cNvSpPr txBox="1"/>
            <p:nvPr/>
          </p:nvSpPr>
          <p:spPr>
            <a:xfrm>
              <a:off x="0" y="-66675"/>
              <a:ext cx="2243240" cy="428883"/>
            </a:xfrm>
            <a:prstGeom prst="flowChartAlternateProcess">
              <a:avLst/>
            </a:prstGeom>
          </p:spPr>
          <p:txBody>
            <a:bodyPr lIns="50800" tIns="50800" rIns="50800" bIns="50800" rtlCol="0" anchor="ctr"/>
            <a:lstStyle/>
            <a:p>
              <a:pPr algn="ctr">
                <a:lnSpc>
                  <a:spcPts val="3499"/>
                </a:lnSpc>
              </a:pPr>
              <a:endParaRPr/>
            </a:p>
          </p:txBody>
        </p:sp>
      </p:grpSp>
      <p:sp>
        <p:nvSpPr>
          <p:cNvPr id="10" name="TextBox 10"/>
          <p:cNvSpPr txBox="1"/>
          <p:nvPr/>
        </p:nvSpPr>
        <p:spPr>
          <a:xfrm>
            <a:off x="925272" y="190500"/>
            <a:ext cx="7914563" cy="1482970"/>
          </a:xfrm>
          <a:prstGeom prst="rect">
            <a:avLst/>
          </a:prstGeom>
        </p:spPr>
        <p:txBody>
          <a:bodyPr lIns="0" tIns="0" rIns="0" bIns="0" rtlCol="0" anchor="t">
            <a:spAutoFit/>
          </a:bodyPr>
          <a:lstStyle/>
          <a:p>
            <a:pPr algn="ctr">
              <a:lnSpc>
                <a:spcPts val="12880"/>
              </a:lnSpc>
            </a:pPr>
            <a:r>
              <a:rPr lang="en-US" sz="6600" spc="46" dirty="0" err="1">
                <a:solidFill>
                  <a:srgbClr val="F5F6F8"/>
                </a:solidFill>
                <a:latin typeface="Anton"/>
                <a:ea typeface="Anton"/>
                <a:cs typeface="Anton"/>
                <a:sym typeface="Anton"/>
              </a:rPr>
              <a:t>Bussiness</a:t>
            </a:r>
            <a:r>
              <a:rPr lang="en-US" sz="6600" spc="46" dirty="0">
                <a:solidFill>
                  <a:srgbClr val="F5F6F8"/>
                </a:solidFill>
                <a:latin typeface="Anton"/>
                <a:ea typeface="Anton"/>
                <a:cs typeface="Anton"/>
                <a:sym typeface="Anton"/>
              </a:rPr>
              <a:t> Question</a:t>
            </a:r>
          </a:p>
        </p:txBody>
      </p:sp>
      <p:grpSp>
        <p:nvGrpSpPr>
          <p:cNvPr id="23" name="Group 21">
            <a:extLst>
              <a:ext uri="{FF2B5EF4-FFF2-40B4-BE49-F238E27FC236}">
                <a16:creationId xmlns:a16="http://schemas.microsoft.com/office/drawing/2014/main" id="{62BAE23E-3536-4404-9855-7E1541B7BA52}"/>
              </a:ext>
            </a:extLst>
          </p:cNvPr>
          <p:cNvGrpSpPr/>
          <p:nvPr/>
        </p:nvGrpSpPr>
        <p:grpSpPr>
          <a:xfrm>
            <a:off x="712452" y="2171700"/>
            <a:ext cx="16584947" cy="2286000"/>
            <a:chOff x="0" y="0"/>
            <a:chExt cx="7466746" cy="1637076"/>
          </a:xfrm>
        </p:grpSpPr>
        <p:grpSp>
          <p:nvGrpSpPr>
            <p:cNvPr id="24" name="Group 22">
              <a:extLst>
                <a:ext uri="{FF2B5EF4-FFF2-40B4-BE49-F238E27FC236}">
                  <a16:creationId xmlns:a16="http://schemas.microsoft.com/office/drawing/2014/main" id="{DC3CC850-B3BE-47C3-95AE-37FCF0E07860}"/>
                </a:ext>
              </a:extLst>
            </p:cNvPr>
            <p:cNvGrpSpPr/>
            <p:nvPr/>
          </p:nvGrpSpPr>
          <p:grpSpPr>
            <a:xfrm>
              <a:off x="0" y="0"/>
              <a:ext cx="7466746" cy="1274003"/>
              <a:chOff x="0" y="0"/>
              <a:chExt cx="1979829" cy="337805"/>
            </a:xfrm>
          </p:grpSpPr>
          <p:sp>
            <p:nvSpPr>
              <p:cNvPr id="27" name="Freeform 23">
                <a:extLst>
                  <a:ext uri="{FF2B5EF4-FFF2-40B4-BE49-F238E27FC236}">
                    <a16:creationId xmlns:a16="http://schemas.microsoft.com/office/drawing/2014/main" id="{94576506-B459-4141-A745-17C1DE085CFE}"/>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28" name="TextBox 24">
                <a:extLst>
                  <a:ext uri="{FF2B5EF4-FFF2-40B4-BE49-F238E27FC236}">
                    <a16:creationId xmlns:a16="http://schemas.microsoft.com/office/drawing/2014/main" id="{C2110EE9-B31E-45EE-B127-594070565255}"/>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25" name="TextBox 25">
              <a:extLst>
                <a:ext uri="{FF2B5EF4-FFF2-40B4-BE49-F238E27FC236}">
                  <a16:creationId xmlns:a16="http://schemas.microsoft.com/office/drawing/2014/main" id="{8F2E23FA-0CB2-4A01-9154-4DE1081B5B22}"/>
                </a:ext>
              </a:extLst>
            </p:cNvPr>
            <p:cNvSpPr txBox="1"/>
            <p:nvPr/>
          </p:nvSpPr>
          <p:spPr>
            <a:xfrm>
              <a:off x="468287" y="436554"/>
              <a:ext cx="287026" cy="387690"/>
            </a:xfrm>
            <a:prstGeom prst="rect">
              <a:avLst/>
            </a:prstGeom>
          </p:spPr>
          <p:txBody>
            <a:bodyPr wrap="square"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01</a:t>
              </a:r>
            </a:p>
          </p:txBody>
        </p:sp>
        <p:sp>
          <p:nvSpPr>
            <p:cNvPr id="26" name="TextBox 26">
              <a:extLst>
                <a:ext uri="{FF2B5EF4-FFF2-40B4-BE49-F238E27FC236}">
                  <a16:creationId xmlns:a16="http://schemas.microsoft.com/office/drawing/2014/main" id="{6BA1D3F7-D205-4C2B-9845-01FF8383543D}"/>
                </a:ext>
              </a:extLst>
            </p:cNvPr>
            <p:cNvSpPr txBox="1"/>
            <p:nvPr/>
          </p:nvSpPr>
          <p:spPr>
            <a:xfrm>
              <a:off x="1408900" y="235153"/>
              <a:ext cx="5037032" cy="1401923"/>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What is the overall distribution of the deposit campaigns conducted by the bank?</a:t>
              </a:r>
            </a:p>
          </p:txBody>
        </p:sp>
      </p:grpSp>
      <p:grpSp>
        <p:nvGrpSpPr>
          <p:cNvPr id="4" name="Group 21">
            <a:extLst>
              <a:ext uri="{FF2B5EF4-FFF2-40B4-BE49-F238E27FC236}">
                <a16:creationId xmlns:a16="http://schemas.microsoft.com/office/drawing/2014/main" id="{132E6CFA-0147-7506-60A0-F82E38CB98D1}"/>
              </a:ext>
            </a:extLst>
          </p:cNvPr>
          <p:cNvGrpSpPr/>
          <p:nvPr/>
        </p:nvGrpSpPr>
        <p:grpSpPr>
          <a:xfrm>
            <a:off x="712452" y="4185126"/>
            <a:ext cx="16584947" cy="1779008"/>
            <a:chOff x="0" y="0"/>
            <a:chExt cx="7466746" cy="1274003"/>
          </a:xfrm>
        </p:grpSpPr>
        <p:grpSp>
          <p:nvGrpSpPr>
            <p:cNvPr id="5" name="Group 22">
              <a:extLst>
                <a:ext uri="{FF2B5EF4-FFF2-40B4-BE49-F238E27FC236}">
                  <a16:creationId xmlns:a16="http://schemas.microsoft.com/office/drawing/2014/main" id="{C5D55AEA-8D80-5C5C-F93C-342A4B0B657C}"/>
                </a:ext>
              </a:extLst>
            </p:cNvPr>
            <p:cNvGrpSpPr/>
            <p:nvPr/>
          </p:nvGrpSpPr>
          <p:grpSpPr>
            <a:xfrm>
              <a:off x="0" y="0"/>
              <a:ext cx="7466746" cy="1274003"/>
              <a:chOff x="0" y="0"/>
              <a:chExt cx="1979829" cy="337805"/>
            </a:xfrm>
          </p:grpSpPr>
          <p:sp>
            <p:nvSpPr>
              <p:cNvPr id="12" name="Freeform 23">
                <a:extLst>
                  <a:ext uri="{FF2B5EF4-FFF2-40B4-BE49-F238E27FC236}">
                    <a16:creationId xmlns:a16="http://schemas.microsoft.com/office/drawing/2014/main" id="{91BEE7BE-03BB-BA5F-DF59-997931557F5B}"/>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13" name="TextBox 24">
                <a:extLst>
                  <a:ext uri="{FF2B5EF4-FFF2-40B4-BE49-F238E27FC236}">
                    <a16:creationId xmlns:a16="http://schemas.microsoft.com/office/drawing/2014/main" id="{4682EEF0-E509-C353-ED95-BE37B1F05515}"/>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6" name="TextBox 25">
              <a:extLst>
                <a:ext uri="{FF2B5EF4-FFF2-40B4-BE49-F238E27FC236}">
                  <a16:creationId xmlns:a16="http://schemas.microsoft.com/office/drawing/2014/main" id="{6BB1BE10-496F-3BCA-9A0C-967E6E089838}"/>
                </a:ext>
              </a:extLst>
            </p:cNvPr>
            <p:cNvSpPr txBox="1"/>
            <p:nvPr/>
          </p:nvSpPr>
          <p:spPr>
            <a:xfrm>
              <a:off x="468287" y="436554"/>
              <a:ext cx="287026" cy="387690"/>
            </a:xfrm>
            <a:prstGeom prst="rect">
              <a:avLst/>
            </a:prstGeom>
          </p:spPr>
          <p:txBody>
            <a:bodyPr wrap="square"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02</a:t>
              </a:r>
            </a:p>
          </p:txBody>
        </p:sp>
        <p:sp>
          <p:nvSpPr>
            <p:cNvPr id="11" name="TextBox 26">
              <a:extLst>
                <a:ext uri="{FF2B5EF4-FFF2-40B4-BE49-F238E27FC236}">
                  <a16:creationId xmlns:a16="http://schemas.microsoft.com/office/drawing/2014/main" id="{7D5E8299-F23A-327A-BA3F-767AA758E09B}"/>
                </a:ext>
              </a:extLst>
            </p:cNvPr>
            <p:cNvSpPr txBox="1"/>
            <p:nvPr/>
          </p:nvSpPr>
          <p:spPr>
            <a:xfrm>
              <a:off x="1408900" y="235153"/>
              <a:ext cx="5037032" cy="752970"/>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What are the characteristics of customers who exhibit a high propensity to subscribe to term deposits?</a:t>
              </a:r>
            </a:p>
          </p:txBody>
        </p:sp>
      </p:grpSp>
      <p:grpSp>
        <p:nvGrpSpPr>
          <p:cNvPr id="14" name="Group 21">
            <a:extLst>
              <a:ext uri="{FF2B5EF4-FFF2-40B4-BE49-F238E27FC236}">
                <a16:creationId xmlns:a16="http://schemas.microsoft.com/office/drawing/2014/main" id="{B321A779-5829-8D16-27CC-541625DB43A9}"/>
              </a:ext>
            </a:extLst>
          </p:cNvPr>
          <p:cNvGrpSpPr/>
          <p:nvPr/>
        </p:nvGrpSpPr>
        <p:grpSpPr>
          <a:xfrm>
            <a:off x="712452" y="6206153"/>
            <a:ext cx="16584947" cy="1779008"/>
            <a:chOff x="0" y="0"/>
            <a:chExt cx="7466746" cy="1274003"/>
          </a:xfrm>
        </p:grpSpPr>
        <p:grpSp>
          <p:nvGrpSpPr>
            <p:cNvPr id="15" name="Group 22">
              <a:extLst>
                <a:ext uri="{FF2B5EF4-FFF2-40B4-BE49-F238E27FC236}">
                  <a16:creationId xmlns:a16="http://schemas.microsoft.com/office/drawing/2014/main" id="{8B441EF4-9216-96F7-905F-70B350D5FBD6}"/>
                </a:ext>
              </a:extLst>
            </p:cNvPr>
            <p:cNvGrpSpPr/>
            <p:nvPr/>
          </p:nvGrpSpPr>
          <p:grpSpPr>
            <a:xfrm>
              <a:off x="0" y="0"/>
              <a:ext cx="7466746" cy="1274003"/>
              <a:chOff x="0" y="0"/>
              <a:chExt cx="1979829" cy="337805"/>
            </a:xfrm>
          </p:grpSpPr>
          <p:sp>
            <p:nvSpPr>
              <p:cNvPr id="18" name="Freeform 23">
                <a:extLst>
                  <a:ext uri="{FF2B5EF4-FFF2-40B4-BE49-F238E27FC236}">
                    <a16:creationId xmlns:a16="http://schemas.microsoft.com/office/drawing/2014/main" id="{E4409D27-B72B-D2FE-7CCD-A5F2CFD08AFA}"/>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19" name="TextBox 24">
                <a:extLst>
                  <a:ext uri="{FF2B5EF4-FFF2-40B4-BE49-F238E27FC236}">
                    <a16:creationId xmlns:a16="http://schemas.microsoft.com/office/drawing/2014/main" id="{D1209D9E-B255-3236-1262-5DD830D04A62}"/>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16" name="TextBox 25">
              <a:extLst>
                <a:ext uri="{FF2B5EF4-FFF2-40B4-BE49-F238E27FC236}">
                  <a16:creationId xmlns:a16="http://schemas.microsoft.com/office/drawing/2014/main" id="{3D0260AC-0E82-06D1-82B9-9B4714D5F3F3}"/>
                </a:ext>
              </a:extLst>
            </p:cNvPr>
            <p:cNvSpPr txBox="1"/>
            <p:nvPr/>
          </p:nvSpPr>
          <p:spPr>
            <a:xfrm>
              <a:off x="468287" y="436554"/>
              <a:ext cx="287026" cy="387690"/>
            </a:xfrm>
            <a:prstGeom prst="rect">
              <a:avLst/>
            </a:prstGeom>
          </p:spPr>
          <p:txBody>
            <a:bodyPr wrap="square"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03</a:t>
              </a:r>
            </a:p>
          </p:txBody>
        </p:sp>
        <p:sp>
          <p:nvSpPr>
            <p:cNvPr id="17" name="TextBox 26">
              <a:extLst>
                <a:ext uri="{FF2B5EF4-FFF2-40B4-BE49-F238E27FC236}">
                  <a16:creationId xmlns:a16="http://schemas.microsoft.com/office/drawing/2014/main" id="{621CD1C5-1E58-9229-84A5-FCE348EE4601}"/>
                </a:ext>
              </a:extLst>
            </p:cNvPr>
            <p:cNvSpPr txBox="1"/>
            <p:nvPr/>
          </p:nvSpPr>
          <p:spPr>
            <a:xfrm>
              <a:off x="1408900" y="235153"/>
              <a:ext cx="5037032" cy="752970"/>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Is there a relationship between a customer's financial profile and their interest in subscribing to term deposits?</a:t>
              </a:r>
            </a:p>
          </p:txBody>
        </p:sp>
      </p:grpSp>
      <p:grpSp>
        <p:nvGrpSpPr>
          <p:cNvPr id="20" name="Group 21">
            <a:extLst>
              <a:ext uri="{FF2B5EF4-FFF2-40B4-BE49-F238E27FC236}">
                <a16:creationId xmlns:a16="http://schemas.microsoft.com/office/drawing/2014/main" id="{50A89CA1-BD3A-3534-BD6C-3CDC080C2F35}"/>
              </a:ext>
            </a:extLst>
          </p:cNvPr>
          <p:cNvGrpSpPr/>
          <p:nvPr/>
        </p:nvGrpSpPr>
        <p:grpSpPr>
          <a:xfrm>
            <a:off x="712452" y="8225082"/>
            <a:ext cx="16584947" cy="1779008"/>
            <a:chOff x="0" y="0"/>
            <a:chExt cx="7466746" cy="1274003"/>
          </a:xfrm>
        </p:grpSpPr>
        <p:grpSp>
          <p:nvGrpSpPr>
            <p:cNvPr id="21" name="Group 22">
              <a:extLst>
                <a:ext uri="{FF2B5EF4-FFF2-40B4-BE49-F238E27FC236}">
                  <a16:creationId xmlns:a16="http://schemas.microsoft.com/office/drawing/2014/main" id="{DA08F232-3D27-8104-49C4-EA0911EF0360}"/>
                </a:ext>
              </a:extLst>
            </p:cNvPr>
            <p:cNvGrpSpPr/>
            <p:nvPr/>
          </p:nvGrpSpPr>
          <p:grpSpPr>
            <a:xfrm>
              <a:off x="0" y="0"/>
              <a:ext cx="7466746" cy="1274003"/>
              <a:chOff x="0" y="0"/>
              <a:chExt cx="1979829" cy="337805"/>
            </a:xfrm>
          </p:grpSpPr>
          <p:sp>
            <p:nvSpPr>
              <p:cNvPr id="30" name="Freeform 23">
                <a:extLst>
                  <a:ext uri="{FF2B5EF4-FFF2-40B4-BE49-F238E27FC236}">
                    <a16:creationId xmlns:a16="http://schemas.microsoft.com/office/drawing/2014/main" id="{0B9A5E1F-3E60-CBF9-7007-9198B08D71A9}"/>
                  </a:ext>
                </a:extLst>
              </p:cNvPr>
              <p:cNvSpPr/>
              <p:nvPr/>
            </p:nvSpPr>
            <p:spPr>
              <a:xfrm>
                <a:off x="0" y="0"/>
                <a:ext cx="1979829" cy="337805"/>
              </a:xfrm>
              <a:custGeom>
                <a:avLst/>
                <a:gdLst/>
                <a:ahLst/>
                <a:cxnLst/>
                <a:rect l="l" t="t" r="r" b="b"/>
                <a:pathLst>
                  <a:path w="1979829" h="337805">
                    <a:moveTo>
                      <a:pt x="62037" y="0"/>
                    </a:moveTo>
                    <a:lnTo>
                      <a:pt x="1917792" y="0"/>
                    </a:lnTo>
                    <a:cubicBezTo>
                      <a:pt x="1934245" y="0"/>
                      <a:pt x="1950024" y="6536"/>
                      <a:pt x="1961659" y="18170"/>
                    </a:cubicBezTo>
                    <a:cubicBezTo>
                      <a:pt x="1973293" y="29804"/>
                      <a:pt x="1979829" y="45584"/>
                      <a:pt x="1979829" y="62037"/>
                    </a:cubicBezTo>
                    <a:lnTo>
                      <a:pt x="1979829" y="275768"/>
                    </a:lnTo>
                    <a:cubicBezTo>
                      <a:pt x="1979829" y="292222"/>
                      <a:pt x="1973293" y="308001"/>
                      <a:pt x="1961659" y="319635"/>
                    </a:cubicBezTo>
                    <a:cubicBezTo>
                      <a:pt x="1950024" y="331269"/>
                      <a:pt x="1934245" y="337805"/>
                      <a:pt x="1917792" y="337805"/>
                    </a:cubicBezTo>
                    <a:lnTo>
                      <a:pt x="62037" y="337805"/>
                    </a:lnTo>
                    <a:cubicBezTo>
                      <a:pt x="27775" y="337805"/>
                      <a:pt x="0" y="310030"/>
                      <a:pt x="0" y="275768"/>
                    </a:cubicBezTo>
                    <a:lnTo>
                      <a:pt x="0" y="62037"/>
                    </a:lnTo>
                    <a:cubicBezTo>
                      <a:pt x="0" y="45584"/>
                      <a:pt x="6536" y="29804"/>
                      <a:pt x="18170" y="18170"/>
                    </a:cubicBezTo>
                    <a:cubicBezTo>
                      <a:pt x="29804" y="6536"/>
                      <a:pt x="45584" y="0"/>
                      <a:pt x="62037" y="0"/>
                    </a:cubicBezTo>
                    <a:close/>
                  </a:path>
                </a:pathLst>
              </a:custGeom>
              <a:ln w="38100" cap="rnd">
                <a:solidFill>
                  <a:srgbClr val="1C0770"/>
                </a:solidFill>
                <a:prstDash val="solid"/>
                <a:round/>
              </a:ln>
            </p:spPr>
          </p:sp>
          <p:sp>
            <p:nvSpPr>
              <p:cNvPr id="31" name="TextBox 24">
                <a:extLst>
                  <a:ext uri="{FF2B5EF4-FFF2-40B4-BE49-F238E27FC236}">
                    <a16:creationId xmlns:a16="http://schemas.microsoft.com/office/drawing/2014/main" id="{A17B35F1-9324-02DB-E5F0-7D4ED61283BF}"/>
                  </a:ext>
                </a:extLst>
              </p:cNvPr>
              <p:cNvSpPr txBox="1"/>
              <p:nvPr/>
            </p:nvSpPr>
            <p:spPr>
              <a:xfrm>
                <a:off x="0" y="-76200"/>
                <a:ext cx="1979829" cy="414005"/>
              </a:xfrm>
              <a:prstGeom prst="rect">
                <a:avLst/>
              </a:prstGeom>
            </p:spPr>
            <p:txBody>
              <a:bodyPr lIns="50800" tIns="50800" rIns="50800" bIns="50800" rtlCol="0" anchor="ctr"/>
              <a:lstStyle/>
              <a:p>
                <a:pPr algn="ctr">
                  <a:lnSpc>
                    <a:spcPts val="3500"/>
                  </a:lnSpc>
                </a:pPr>
                <a:endParaRPr/>
              </a:p>
            </p:txBody>
          </p:sp>
        </p:grpSp>
        <p:sp>
          <p:nvSpPr>
            <p:cNvPr id="22" name="TextBox 25">
              <a:extLst>
                <a:ext uri="{FF2B5EF4-FFF2-40B4-BE49-F238E27FC236}">
                  <a16:creationId xmlns:a16="http://schemas.microsoft.com/office/drawing/2014/main" id="{B94B6F72-0CB8-1B12-CBCD-FDC8053F1D28}"/>
                </a:ext>
              </a:extLst>
            </p:cNvPr>
            <p:cNvSpPr txBox="1"/>
            <p:nvPr/>
          </p:nvSpPr>
          <p:spPr>
            <a:xfrm>
              <a:off x="468287" y="436554"/>
              <a:ext cx="287026" cy="387690"/>
            </a:xfrm>
            <a:prstGeom prst="rect">
              <a:avLst/>
            </a:prstGeom>
          </p:spPr>
          <p:txBody>
            <a:bodyPr wrap="square" lIns="0" tIns="0" rIns="0" bIns="0" rtlCol="0" anchor="t">
              <a:spAutoFit/>
            </a:bodyPr>
            <a:lstStyle/>
            <a:p>
              <a:pPr algn="ctr">
                <a:lnSpc>
                  <a:spcPts val="4517"/>
                </a:lnSpc>
              </a:pPr>
              <a:r>
                <a:rPr lang="en-US" sz="3227" spc="16" dirty="0">
                  <a:solidFill>
                    <a:srgbClr val="1C0770"/>
                  </a:solidFill>
                  <a:latin typeface="Anton"/>
                  <a:ea typeface="Anton"/>
                  <a:cs typeface="Anton"/>
                  <a:sym typeface="Anton"/>
                </a:rPr>
                <a:t>04</a:t>
              </a:r>
            </a:p>
          </p:txBody>
        </p:sp>
        <p:sp>
          <p:nvSpPr>
            <p:cNvPr id="29" name="TextBox 26">
              <a:extLst>
                <a:ext uri="{FF2B5EF4-FFF2-40B4-BE49-F238E27FC236}">
                  <a16:creationId xmlns:a16="http://schemas.microsoft.com/office/drawing/2014/main" id="{6994DF6F-3F5E-A135-C102-9B11775E7902}"/>
                </a:ext>
              </a:extLst>
            </p:cNvPr>
            <p:cNvSpPr txBox="1"/>
            <p:nvPr/>
          </p:nvSpPr>
          <p:spPr>
            <a:xfrm>
              <a:off x="1408900" y="235153"/>
              <a:ext cx="5037032" cy="752970"/>
            </a:xfrm>
            <a:prstGeom prst="rect">
              <a:avLst/>
            </a:prstGeom>
          </p:spPr>
          <p:txBody>
            <a:bodyPr lIns="0" tIns="0" rIns="0" bIns="0" rtlCol="0" anchor="t">
              <a:spAutoFit/>
            </a:bodyPr>
            <a:lstStyle/>
            <a:p>
              <a:pPr algn="l">
                <a:lnSpc>
                  <a:spcPts val="4245"/>
                </a:lnSpc>
              </a:pPr>
              <a:r>
                <a:rPr lang="en-US" sz="3032" spc="15" dirty="0">
                  <a:solidFill>
                    <a:srgbClr val="1C0770"/>
                  </a:solidFill>
                  <a:latin typeface="Poppins"/>
                  <a:ea typeface="Poppins"/>
                  <a:cs typeface="Poppins"/>
                  <a:sym typeface="Poppins"/>
                </a:rPr>
                <a:t>How well did the marketing campaigns perform in driving term deposit subscriptions?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44742" y="4725235"/>
            <a:ext cx="16230600" cy="1302664"/>
          </a:xfrm>
          <a:prstGeom prst="rect">
            <a:avLst/>
          </a:prstGeom>
        </p:spPr>
        <p:txBody>
          <a:bodyPr wrap="square" lIns="0" tIns="0" rIns="0" bIns="0" rtlCol="0" anchor="t">
            <a:spAutoFit/>
          </a:bodyPr>
          <a:lstStyle/>
          <a:p>
            <a:pPr algn="ctr">
              <a:lnSpc>
                <a:spcPts val="9847"/>
              </a:lnSpc>
            </a:pPr>
            <a:r>
              <a:rPr lang="en-US" sz="10704" spc="53" dirty="0">
                <a:solidFill>
                  <a:srgbClr val="1C0770"/>
                </a:solidFill>
                <a:latin typeface="Anton"/>
                <a:ea typeface="Anton"/>
                <a:cs typeface="Anton"/>
                <a:sym typeface="Anton"/>
              </a:rPr>
              <a:t>Analysis Results</a:t>
            </a:r>
          </a:p>
        </p:txBody>
      </p:sp>
      <p:sp>
        <p:nvSpPr>
          <p:cNvPr id="5" name="AutoShape 5"/>
          <p:cNvSpPr/>
          <p:nvPr/>
        </p:nvSpPr>
        <p:spPr>
          <a:xfrm flipV="1">
            <a:off x="1028700" y="6112061"/>
            <a:ext cx="16230600" cy="22039"/>
          </a:xfrm>
          <a:prstGeom prst="line">
            <a:avLst/>
          </a:prstGeom>
          <a:ln w="38100" cap="flat">
            <a:solidFill>
              <a:srgbClr val="1C0770"/>
            </a:solidFill>
            <a:prstDash val="solid"/>
            <a:headEnd type="none" w="sm" len="sm"/>
            <a:tailEnd type="none" w="sm" len="sm"/>
          </a:ln>
        </p:spPr>
      </p:sp>
    </p:spTree>
    <p:extLst>
      <p:ext uri="{BB962C8B-B14F-4D97-AF65-F5344CB8AC3E}">
        <p14:creationId xmlns:p14="http://schemas.microsoft.com/office/powerpoint/2010/main" val="275343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CDEA-32FC-0C11-8D2B-8ED7288D8730}"/>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13AC9604-9F87-D731-5908-6345DC88D8C6}"/>
              </a:ext>
            </a:extLst>
          </p:cNvPr>
          <p:cNvSpPr/>
          <p:nvPr/>
        </p:nvSpPr>
        <p:spPr>
          <a:xfrm flipV="1">
            <a:off x="1028700" y="6112061"/>
            <a:ext cx="16230600" cy="22039"/>
          </a:xfrm>
          <a:prstGeom prst="line">
            <a:avLst/>
          </a:prstGeom>
          <a:ln w="38100" cap="flat">
            <a:solidFill>
              <a:srgbClr val="1C0770"/>
            </a:solidFill>
            <a:prstDash val="solid"/>
            <a:headEnd type="none" w="sm" len="sm"/>
            <a:tailEnd type="none" w="sm" len="sm"/>
          </a:ln>
        </p:spPr>
      </p:sp>
    </p:spTree>
    <p:extLst>
      <p:ext uri="{BB962C8B-B14F-4D97-AF65-F5344CB8AC3E}">
        <p14:creationId xmlns:p14="http://schemas.microsoft.com/office/powerpoint/2010/main" val="2094637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grpSp>
        <p:nvGrpSpPr>
          <p:cNvPr id="7" name="Group 7"/>
          <p:cNvGrpSpPr/>
          <p:nvPr/>
        </p:nvGrpSpPr>
        <p:grpSpPr>
          <a:xfrm>
            <a:off x="828529" y="814958"/>
            <a:ext cx="16530855" cy="1692194"/>
            <a:chOff x="0" y="0"/>
            <a:chExt cx="2145326" cy="445681"/>
          </a:xfrm>
        </p:grpSpPr>
        <p:sp>
          <p:nvSpPr>
            <p:cNvPr id="8" name="Freeform 8"/>
            <p:cNvSpPr/>
            <p:nvPr/>
          </p:nvSpPr>
          <p:spPr>
            <a:xfrm>
              <a:off x="0" y="0"/>
              <a:ext cx="2145326" cy="445681"/>
            </a:xfrm>
            <a:prstGeom prst="roundRect">
              <a:avLst/>
            </a:prstGeom>
            <a:solidFill>
              <a:srgbClr val="1C0770"/>
            </a:solidFill>
          </p:spPr>
        </p:sp>
        <p:sp>
          <p:nvSpPr>
            <p:cNvPr id="9" name="TextBox 9"/>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Overall Distribution of the Deposit Campaign</a:t>
            </a:r>
          </a:p>
        </p:txBody>
      </p:sp>
      <p:sp>
        <p:nvSpPr>
          <p:cNvPr id="38" name="TextBox 4">
            <a:extLst>
              <a:ext uri="{FF2B5EF4-FFF2-40B4-BE49-F238E27FC236}">
                <a16:creationId xmlns:a16="http://schemas.microsoft.com/office/drawing/2014/main" id="{4FE02B52-64FC-4473-97FF-B7EC6C022EC5}"/>
              </a:ext>
            </a:extLst>
          </p:cNvPr>
          <p:cNvSpPr txBox="1"/>
          <p:nvPr/>
        </p:nvSpPr>
        <p:spPr>
          <a:xfrm>
            <a:off x="12420600" y="2761031"/>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A3088307-B4D7-4450-B1BE-9AEF60D40088}"/>
              </a:ext>
            </a:extLst>
          </p:cNvPr>
          <p:cNvSpPr/>
          <p:nvPr/>
        </p:nvSpPr>
        <p:spPr>
          <a:xfrm>
            <a:off x="12564197" y="3824720"/>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85ABF63F-527C-4838-88A3-383EFC757DDD}"/>
              </a:ext>
            </a:extLst>
          </p:cNvPr>
          <p:cNvSpPr txBox="1"/>
          <p:nvPr/>
        </p:nvSpPr>
        <p:spPr>
          <a:xfrm>
            <a:off x="12564197" y="4100657"/>
            <a:ext cx="5342803" cy="2154436"/>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Based on the graph, out of the 11,162 customers contacted, only 5,289 decided to subscribe to a deposit</a:t>
            </a:r>
          </a:p>
        </p:txBody>
      </p:sp>
      <p:pic>
        <p:nvPicPr>
          <p:cNvPr id="3" name="Picture 2">
            <a:extLst>
              <a:ext uri="{FF2B5EF4-FFF2-40B4-BE49-F238E27FC236}">
                <a16:creationId xmlns:a16="http://schemas.microsoft.com/office/drawing/2014/main" id="{0FBC6440-41EB-5D58-561A-05B790239C7F}"/>
              </a:ext>
            </a:extLst>
          </p:cNvPr>
          <p:cNvPicPr>
            <a:picLocks noChangeAspect="1"/>
          </p:cNvPicPr>
          <p:nvPr/>
        </p:nvPicPr>
        <p:blipFill>
          <a:blip r:embed="rId2"/>
          <a:stretch>
            <a:fillRect/>
          </a:stretch>
        </p:blipFill>
        <p:spPr>
          <a:xfrm>
            <a:off x="828529" y="2772447"/>
            <a:ext cx="8934449" cy="66723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15364-9617-7286-C91B-609E9BBBADE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3640618-DAA3-029B-3AF3-FC43EB0A61E1}"/>
              </a:ext>
            </a:extLst>
          </p:cNvPr>
          <p:cNvPicPr>
            <a:picLocks noChangeAspect="1"/>
          </p:cNvPicPr>
          <p:nvPr/>
        </p:nvPicPr>
        <p:blipFill>
          <a:blip r:embed="rId2"/>
          <a:stretch>
            <a:fillRect/>
          </a:stretch>
        </p:blipFill>
        <p:spPr>
          <a:xfrm>
            <a:off x="1072789" y="2618640"/>
            <a:ext cx="16004233" cy="5268060"/>
          </a:xfrm>
          <a:prstGeom prst="rect">
            <a:avLst/>
          </a:prstGeom>
        </p:spPr>
      </p:pic>
      <p:grpSp>
        <p:nvGrpSpPr>
          <p:cNvPr id="7" name="Group 7">
            <a:extLst>
              <a:ext uri="{FF2B5EF4-FFF2-40B4-BE49-F238E27FC236}">
                <a16:creationId xmlns:a16="http://schemas.microsoft.com/office/drawing/2014/main" id="{9DEBA150-CBF3-5A78-F8F7-F7D017D48428}"/>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76203AB9-EB22-4419-788D-95956DAA59EB}"/>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AE8496A0-B429-7AFD-3660-6B7235C05448}"/>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59F95477-884A-E6ED-AFE6-693EF39C110F}"/>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Customer Characteristics</a:t>
            </a:r>
          </a:p>
        </p:txBody>
      </p:sp>
      <p:sp>
        <p:nvSpPr>
          <p:cNvPr id="38" name="TextBox 4">
            <a:extLst>
              <a:ext uri="{FF2B5EF4-FFF2-40B4-BE49-F238E27FC236}">
                <a16:creationId xmlns:a16="http://schemas.microsoft.com/office/drawing/2014/main" id="{83E68DDB-9444-CE8F-9726-76343BAA1115}"/>
              </a:ext>
            </a:extLst>
          </p:cNvPr>
          <p:cNvSpPr txBox="1"/>
          <p:nvPr/>
        </p:nvSpPr>
        <p:spPr>
          <a:xfrm>
            <a:off x="1061360" y="7464967"/>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21AF9547-3881-7F36-55E9-EBE690185DA5}"/>
              </a:ext>
            </a:extLst>
          </p:cNvPr>
          <p:cNvSpPr/>
          <p:nvPr/>
        </p:nvSpPr>
        <p:spPr>
          <a:xfrm>
            <a:off x="1094017" y="8528656"/>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B7668AFE-31C4-6B1C-BD02-76CB9DA9C7DF}"/>
              </a:ext>
            </a:extLst>
          </p:cNvPr>
          <p:cNvSpPr txBox="1"/>
          <p:nvPr/>
        </p:nvSpPr>
        <p:spPr>
          <a:xfrm>
            <a:off x="934057" y="8544985"/>
            <a:ext cx="16834211" cy="1742015"/>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Age Category: The majority of conversions are among individuals aged 18–25, achieving a conversion rate of 82.9%.</a:t>
            </a:r>
          </a:p>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Job Category: In terms of conversion rate, students represent the highest-performing segment at 74.7%.</a:t>
            </a:r>
          </a:p>
        </p:txBody>
      </p:sp>
    </p:spTree>
    <p:extLst>
      <p:ext uri="{BB962C8B-B14F-4D97-AF65-F5344CB8AC3E}">
        <p14:creationId xmlns:p14="http://schemas.microsoft.com/office/powerpoint/2010/main" val="3816219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2BD4E-A442-6DDA-2C73-A224F1E9B48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686AEA7-B961-F9BA-D709-7A5541CAF9C4}"/>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FEC0DB60-A3E5-1B11-1558-20B8423C5EC5}"/>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B3857CA7-FACB-0340-D150-E575015C43A7}"/>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3893F9F8-478E-12F6-04A4-BD841232EC30}"/>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Customer Characteristics</a:t>
            </a:r>
          </a:p>
        </p:txBody>
      </p:sp>
      <p:sp>
        <p:nvSpPr>
          <p:cNvPr id="38" name="TextBox 4">
            <a:extLst>
              <a:ext uri="{FF2B5EF4-FFF2-40B4-BE49-F238E27FC236}">
                <a16:creationId xmlns:a16="http://schemas.microsoft.com/office/drawing/2014/main" id="{CC8A2774-E0FE-85AB-A748-920F75C65C3C}"/>
              </a:ext>
            </a:extLst>
          </p:cNvPr>
          <p:cNvSpPr txBox="1"/>
          <p:nvPr/>
        </p:nvSpPr>
        <p:spPr>
          <a:xfrm>
            <a:off x="1061360" y="7464967"/>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9AA7D653-8344-5244-49C5-136DCDD2B005}"/>
              </a:ext>
            </a:extLst>
          </p:cNvPr>
          <p:cNvSpPr/>
          <p:nvPr/>
        </p:nvSpPr>
        <p:spPr>
          <a:xfrm>
            <a:off x="1094017" y="8528656"/>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3544743E-8CB9-94E8-91E1-B979CA63A535}"/>
              </a:ext>
            </a:extLst>
          </p:cNvPr>
          <p:cNvSpPr txBox="1"/>
          <p:nvPr/>
        </p:nvSpPr>
        <p:spPr>
          <a:xfrm>
            <a:off x="934057" y="8544985"/>
            <a:ext cx="16834211" cy="1742015"/>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Marital Status: Single individuals exhibit a higher propensity to convert, with a conversion rate of 54.3%.</a:t>
            </a:r>
          </a:p>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Education Category: Customers with a tertiary education level achieve the highest conversion rate at 54.1%.</a:t>
            </a:r>
          </a:p>
        </p:txBody>
      </p:sp>
      <p:pic>
        <p:nvPicPr>
          <p:cNvPr id="5" name="Picture 4">
            <a:extLst>
              <a:ext uri="{FF2B5EF4-FFF2-40B4-BE49-F238E27FC236}">
                <a16:creationId xmlns:a16="http://schemas.microsoft.com/office/drawing/2014/main" id="{AB17EAA3-0F7A-C3F4-8A64-E36AD2B0E6F9}"/>
              </a:ext>
            </a:extLst>
          </p:cNvPr>
          <p:cNvPicPr>
            <a:picLocks noChangeAspect="1"/>
          </p:cNvPicPr>
          <p:nvPr/>
        </p:nvPicPr>
        <p:blipFill>
          <a:blip r:embed="rId2"/>
          <a:stretch>
            <a:fillRect/>
          </a:stretch>
        </p:blipFill>
        <p:spPr>
          <a:xfrm>
            <a:off x="1165699" y="2528522"/>
            <a:ext cx="15956602" cy="5229955"/>
          </a:xfrm>
          <a:prstGeom prst="rect">
            <a:avLst/>
          </a:prstGeom>
        </p:spPr>
      </p:pic>
    </p:spTree>
    <p:extLst>
      <p:ext uri="{BB962C8B-B14F-4D97-AF65-F5344CB8AC3E}">
        <p14:creationId xmlns:p14="http://schemas.microsoft.com/office/powerpoint/2010/main" val="3752139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18E4-15A1-7E89-9B83-D860013D431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E7F3F6E-5FBA-F80A-DC97-7754C1AB9D29}"/>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E69959D5-D3E3-BCB7-4436-806585828114}"/>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83E8D9D4-5A26-751F-3C8C-BF0917400C36}"/>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0655F4F1-874C-DF94-537B-D29AF0DD775B}"/>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Financial Profile</a:t>
            </a:r>
          </a:p>
        </p:txBody>
      </p:sp>
      <p:sp>
        <p:nvSpPr>
          <p:cNvPr id="38" name="TextBox 4">
            <a:extLst>
              <a:ext uri="{FF2B5EF4-FFF2-40B4-BE49-F238E27FC236}">
                <a16:creationId xmlns:a16="http://schemas.microsoft.com/office/drawing/2014/main" id="{96049E3D-E501-75A9-8917-67E081BD142B}"/>
              </a:ext>
            </a:extLst>
          </p:cNvPr>
          <p:cNvSpPr txBox="1"/>
          <p:nvPr/>
        </p:nvSpPr>
        <p:spPr>
          <a:xfrm>
            <a:off x="1055917" y="6957225"/>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B88D0062-A9B6-E267-BFF1-9C0DA6F2E0D0}"/>
              </a:ext>
            </a:extLst>
          </p:cNvPr>
          <p:cNvSpPr/>
          <p:nvPr/>
        </p:nvSpPr>
        <p:spPr>
          <a:xfrm>
            <a:off x="1088574" y="8020914"/>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8C4962C3-153A-FC4C-8E60-D0CDF546616D}"/>
              </a:ext>
            </a:extLst>
          </p:cNvPr>
          <p:cNvSpPr txBox="1"/>
          <p:nvPr/>
        </p:nvSpPr>
        <p:spPr>
          <a:xfrm>
            <a:off x="928614" y="8037243"/>
            <a:ext cx="16834211" cy="1742015"/>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Balance Category: Customers with a high balance represent the highest conversion target, with a conversion rate of 57.7%.</a:t>
            </a:r>
          </a:p>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Housing Loan Category: Customers without a housing loan exhibit a higher conversion rate, reaching 57.0%.</a:t>
            </a:r>
          </a:p>
        </p:txBody>
      </p:sp>
      <p:pic>
        <p:nvPicPr>
          <p:cNvPr id="6" name="Picture 5">
            <a:extLst>
              <a:ext uri="{FF2B5EF4-FFF2-40B4-BE49-F238E27FC236}">
                <a16:creationId xmlns:a16="http://schemas.microsoft.com/office/drawing/2014/main" id="{F8E1B822-8E6D-8F87-5F43-0BC8A69D6A92}"/>
              </a:ext>
            </a:extLst>
          </p:cNvPr>
          <p:cNvPicPr>
            <a:picLocks noChangeAspect="1"/>
          </p:cNvPicPr>
          <p:nvPr/>
        </p:nvPicPr>
        <p:blipFill>
          <a:blip r:embed="rId2"/>
          <a:stretch>
            <a:fillRect/>
          </a:stretch>
        </p:blipFill>
        <p:spPr>
          <a:xfrm>
            <a:off x="1156173" y="2783333"/>
            <a:ext cx="15975654" cy="4163006"/>
          </a:xfrm>
          <a:prstGeom prst="rect">
            <a:avLst/>
          </a:prstGeom>
        </p:spPr>
      </p:pic>
    </p:spTree>
    <p:extLst>
      <p:ext uri="{BB962C8B-B14F-4D97-AF65-F5344CB8AC3E}">
        <p14:creationId xmlns:p14="http://schemas.microsoft.com/office/powerpoint/2010/main" val="1464070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C3DB-9691-9DEB-E4FD-200624C1762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62FEDA8-8A0C-BE46-62BE-CD5E52B08407}"/>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23DC5B42-76F2-E219-847A-97939F64D71C}"/>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E3C1FFA0-BC90-3A9F-E73B-D1623A122426}"/>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F2B8BA0A-9013-C8F5-AD99-43B184415C4A}"/>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Financial Profile</a:t>
            </a:r>
          </a:p>
        </p:txBody>
      </p:sp>
      <p:sp>
        <p:nvSpPr>
          <p:cNvPr id="38" name="TextBox 4">
            <a:extLst>
              <a:ext uri="{FF2B5EF4-FFF2-40B4-BE49-F238E27FC236}">
                <a16:creationId xmlns:a16="http://schemas.microsoft.com/office/drawing/2014/main" id="{83DF3143-A3A5-FD8F-203B-F218775C036C}"/>
              </a:ext>
            </a:extLst>
          </p:cNvPr>
          <p:cNvSpPr txBox="1"/>
          <p:nvPr/>
        </p:nvSpPr>
        <p:spPr>
          <a:xfrm>
            <a:off x="1055917" y="6957225"/>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D02BC16A-750F-61F7-3C6F-CF434CA46231}"/>
              </a:ext>
            </a:extLst>
          </p:cNvPr>
          <p:cNvSpPr/>
          <p:nvPr/>
        </p:nvSpPr>
        <p:spPr>
          <a:xfrm>
            <a:off x="1088574" y="8020914"/>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E9C6A8A0-30BB-BF64-8B9A-B01FC7579F3A}"/>
              </a:ext>
            </a:extLst>
          </p:cNvPr>
          <p:cNvSpPr txBox="1"/>
          <p:nvPr/>
        </p:nvSpPr>
        <p:spPr>
          <a:xfrm>
            <a:off x="928614" y="8037243"/>
            <a:ext cx="16834211" cy="1742015"/>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Loan Category: Customers without personal loans achieve a higher conversion rate at 49.5%.</a:t>
            </a:r>
          </a:p>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By Credit Default Category: Customers with no history of credit default are successfully converted at a higher rate of 47.6%.</a:t>
            </a:r>
          </a:p>
        </p:txBody>
      </p:sp>
      <p:pic>
        <p:nvPicPr>
          <p:cNvPr id="5" name="Picture 4">
            <a:extLst>
              <a:ext uri="{FF2B5EF4-FFF2-40B4-BE49-F238E27FC236}">
                <a16:creationId xmlns:a16="http://schemas.microsoft.com/office/drawing/2014/main" id="{D2862844-82F6-9AA9-B659-0C303CED6C3D}"/>
              </a:ext>
            </a:extLst>
          </p:cNvPr>
          <p:cNvPicPr>
            <a:picLocks noChangeAspect="1"/>
          </p:cNvPicPr>
          <p:nvPr/>
        </p:nvPicPr>
        <p:blipFill>
          <a:blip r:embed="rId2"/>
          <a:stretch>
            <a:fillRect/>
          </a:stretch>
        </p:blipFill>
        <p:spPr>
          <a:xfrm>
            <a:off x="1422910" y="2960021"/>
            <a:ext cx="15442180" cy="4105848"/>
          </a:xfrm>
          <a:prstGeom prst="rect">
            <a:avLst/>
          </a:prstGeom>
        </p:spPr>
      </p:pic>
    </p:spTree>
    <p:extLst>
      <p:ext uri="{BB962C8B-B14F-4D97-AF65-F5344CB8AC3E}">
        <p14:creationId xmlns:p14="http://schemas.microsoft.com/office/powerpoint/2010/main" val="1109131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D488-107A-B163-FB85-7F2EBDC2528C}"/>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C12FE1B-DAC5-A76D-78DB-185BA1173AE1}"/>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FC9B4C76-F524-1ED3-7E88-376C996364EA}"/>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2F7C522E-1A44-76B5-B189-256594D98A2F}"/>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694FCC36-323E-A271-C56D-4A78C45D3AF4}"/>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Marketing Campaign Performance</a:t>
            </a:r>
          </a:p>
        </p:txBody>
      </p:sp>
      <p:sp>
        <p:nvSpPr>
          <p:cNvPr id="38" name="TextBox 4">
            <a:extLst>
              <a:ext uri="{FF2B5EF4-FFF2-40B4-BE49-F238E27FC236}">
                <a16:creationId xmlns:a16="http://schemas.microsoft.com/office/drawing/2014/main" id="{374B46D5-4F66-1835-BD77-71EFD5CBD03F}"/>
              </a:ext>
            </a:extLst>
          </p:cNvPr>
          <p:cNvSpPr txBox="1"/>
          <p:nvPr/>
        </p:nvSpPr>
        <p:spPr>
          <a:xfrm>
            <a:off x="12420600" y="2761031"/>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B8F56B22-31AF-8B05-79E4-C317B42332F8}"/>
              </a:ext>
            </a:extLst>
          </p:cNvPr>
          <p:cNvSpPr/>
          <p:nvPr/>
        </p:nvSpPr>
        <p:spPr>
          <a:xfrm>
            <a:off x="12564197" y="3824720"/>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CF1FA835-3E0C-F399-A440-C8379D99501B}"/>
              </a:ext>
            </a:extLst>
          </p:cNvPr>
          <p:cNvSpPr txBox="1"/>
          <p:nvPr/>
        </p:nvSpPr>
        <p:spPr>
          <a:xfrm>
            <a:off x="12564197" y="4100657"/>
            <a:ext cx="5342803" cy="2979277"/>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The visualization shows that cellular communication media yields a conversion rate of 54.3%, slightly higher than telephone, which has a conversion rate of 50.4%.</a:t>
            </a:r>
          </a:p>
        </p:txBody>
      </p:sp>
      <p:pic>
        <p:nvPicPr>
          <p:cNvPr id="4" name="Picture 3">
            <a:extLst>
              <a:ext uri="{FF2B5EF4-FFF2-40B4-BE49-F238E27FC236}">
                <a16:creationId xmlns:a16="http://schemas.microsoft.com/office/drawing/2014/main" id="{11315A06-F9CD-DF7E-F59C-A0B525EAB5C6}"/>
              </a:ext>
            </a:extLst>
          </p:cNvPr>
          <p:cNvPicPr>
            <a:picLocks noChangeAspect="1"/>
          </p:cNvPicPr>
          <p:nvPr/>
        </p:nvPicPr>
        <p:blipFill>
          <a:blip r:embed="rId2"/>
          <a:stretch>
            <a:fillRect/>
          </a:stretch>
        </p:blipFill>
        <p:spPr>
          <a:xfrm>
            <a:off x="928614" y="2818195"/>
            <a:ext cx="10191143" cy="6907003"/>
          </a:xfrm>
          <a:prstGeom prst="rect">
            <a:avLst/>
          </a:prstGeom>
        </p:spPr>
      </p:pic>
    </p:spTree>
    <p:extLst>
      <p:ext uri="{BB962C8B-B14F-4D97-AF65-F5344CB8AC3E}">
        <p14:creationId xmlns:p14="http://schemas.microsoft.com/office/powerpoint/2010/main" val="2620848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CDAB-DAFD-EB4D-DEF6-4BD26DC8F75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87966AC-26D4-9849-C388-E445631533B1}"/>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1D0975FC-4B80-EC98-97E0-CCB20A99CB46}"/>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E2F3E322-ECF4-8261-7A8F-4F7FDACC484D}"/>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38166BF8-0A1A-5B09-DD28-2970244203EC}"/>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Marketing Campaign Performance</a:t>
            </a:r>
          </a:p>
        </p:txBody>
      </p:sp>
      <p:sp>
        <p:nvSpPr>
          <p:cNvPr id="38" name="TextBox 4">
            <a:extLst>
              <a:ext uri="{FF2B5EF4-FFF2-40B4-BE49-F238E27FC236}">
                <a16:creationId xmlns:a16="http://schemas.microsoft.com/office/drawing/2014/main" id="{E35E913A-E744-A8F8-B84B-5EAB1BDE2CB1}"/>
              </a:ext>
            </a:extLst>
          </p:cNvPr>
          <p:cNvSpPr txBox="1"/>
          <p:nvPr/>
        </p:nvSpPr>
        <p:spPr>
          <a:xfrm>
            <a:off x="12420600" y="2761031"/>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1DCF8146-633C-9188-36E3-E622873829BC}"/>
              </a:ext>
            </a:extLst>
          </p:cNvPr>
          <p:cNvSpPr/>
          <p:nvPr/>
        </p:nvSpPr>
        <p:spPr>
          <a:xfrm>
            <a:off x="12564197" y="3824720"/>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8A6E7337-A7B0-EC80-17C1-7D8B59A198E9}"/>
              </a:ext>
            </a:extLst>
          </p:cNvPr>
          <p:cNvSpPr txBox="1"/>
          <p:nvPr/>
        </p:nvSpPr>
        <p:spPr>
          <a:xfrm>
            <a:off x="12564197" y="4100657"/>
            <a:ext cx="5342803" cy="5866221"/>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The highest conversion rate occurs during the first customer contact at 53.4%. After contacts exceed 4 times, the conversion rate tends to decline. </a:t>
            </a:r>
          </a:p>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This indicates that campaign success is heavily concentrated within the first 1 to 3 contacts, whereas repeated follow-ups tend to be associated with lower campaign success rates.</a:t>
            </a:r>
          </a:p>
        </p:txBody>
      </p:sp>
      <p:pic>
        <p:nvPicPr>
          <p:cNvPr id="3" name="Picture 2">
            <a:extLst>
              <a:ext uri="{FF2B5EF4-FFF2-40B4-BE49-F238E27FC236}">
                <a16:creationId xmlns:a16="http://schemas.microsoft.com/office/drawing/2014/main" id="{35AAA7D7-4213-B1BF-3E9D-110A49D4F780}"/>
              </a:ext>
            </a:extLst>
          </p:cNvPr>
          <p:cNvPicPr>
            <a:picLocks noChangeAspect="1"/>
          </p:cNvPicPr>
          <p:nvPr/>
        </p:nvPicPr>
        <p:blipFill>
          <a:blip r:embed="rId2"/>
          <a:stretch>
            <a:fillRect/>
          </a:stretch>
        </p:blipFill>
        <p:spPr>
          <a:xfrm>
            <a:off x="828529" y="2750676"/>
            <a:ext cx="10898856" cy="7315951"/>
          </a:xfrm>
          <a:prstGeom prst="rect">
            <a:avLst/>
          </a:prstGeom>
        </p:spPr>
      </p:pic>
    </p:spTree>
    <p:extLst>
      <p:ext uri="{BB962C8B-B14F-4D97-AF65-F5344CB8AC3E}">
        <p14:creationId xmlns:p14="http://schemas.microsoft.com/office/powerpoint/2010/main" val="3001780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3DBAC-A450-A415-A71A-8296E335BB01}"/>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5506640-B1B4-FE0A-CBD0-02CC7DB1DE3B}"/>
              </a:ext>
            </a:extLst>
          </p:cNvPr>
          <p:cNvGrpSpPr/>
          <p:nvPr/>
        </p:nvGrpSpPr>
        <p:grpSpPr>
          <a:xfrm>
            <a:off x="828529" y="814958"/>
            <a:ext cx="16530855" cy="1692194"/>
            <a:chOff x="0" y="0"/>
            <a:chExt cx="2145326" cy="445681"/>
          </a:xfrm>
        </p:grpSpPr>
        <p:sp>
          <p:nvSpPr>
            <p:cNvPr id="8" name="Freeform 8">
              <a:extLst>
                <a:ext uri="{FF2B5EF4-FFF2-40B4-BE49-F238E27FC236}">
                  <a16:creationId xmlns:a16="http://schemas.microsoft.com/office/drawing/2014/main" id="{DF0CECAA-2C66-F00B-8713-89D4B33A817E}"/>
                </a:ext>
              </a:extLst>
            </p:cNvPr>
            <p:cNvSpPr/>
            <p:nvPr/>
          </p:nvSpPr>
          <p:spPr>
            <a:xfrm>
              <a:off x="0" y="0"/>
              <a:ext cx="2145326" cy="445681"/>
            </a:xfrm>
            <a:prstGeom prst="roundRect">
              <a:avLst/>
            </a:prstGeom>
            <a:solidFill>
              <a:srgbClr val="1C0770"/>
            </a:solidFill>
          </p:spPr>
        </p:sp>
        <p:sp>
          <p:nvSpPr>
            <p:cNvPr id="9" name="TextBox 9">
              <a:extLst>
                <a:ext uri="{FF2B5EF4-FFF2-40B4-BE49-F238E27FC236}">
                  <a16:creationId xmlns:a16="http://schemas.microsoft.com/office/drawing/2014/main" id="{2A696A06-7E23-64BC-F664-A162851739EB}"/>
                </a:ext>
              </a:extLst>
            </p:cNvPr>
            <p:cNvSpPr txBox="1"/>
            <p:nvPr/>
          </p:nvSpPr>
          <p:spPr>
            <a:xfrm>
              <a:off x="0" y="-66675"/>
              <a:ext cx="2145326" cy="512356"/>
            </a:xfrm>
            <a:prstGeom prst="roundRect">
              <a:avLst/>
            </a:prstGeom>
          </p:spPr>
          <p:txBody>
            <a:bodyPr lIns="50800" tIns="50800" rIns="50800" bIns="50800" rtlCol="0" anchor="ctr"/>
            <a:lstStyle/>
            <a:p>
              <a:pPr algn="ctr">
                <a:lnSpc>
                  <a:spcPts val="3499"/>
                </a:lnSpc>
              </a:pPr>
              <a:endParaRPr/>
            </a:p>
          </p:txBody>
        </p:sp>
      </p:grpSp>
      <p:sp>
        <p:nvSpPr>
          <p:cNvPr id="10" name="TextBox 10">
            <a:extLst>
              <a:ext uri="{FF2B5EF4-FFF2-40B4-BE49-F238E27FC236}">
                <a16:creationId xmlns:a16="http://schemas.microsoft.com/office/drawing/2014/main" id="{48D49D8B-C293-FE19-DED7-50BAFEBE5615}"/>
              </a:ext>
            </a:extLst>
          </p:cNvPr>
          <p:cNvSpPr txBox="1"/>
          <p:nvPr/>
        </p:nvSpPr>
        <p:spPr>
          <a:xfrm>
            <a:off x="928614" y="805326"/>
            <a:ext cx="16292585" cy="1442574"/>
          </a:xfrm>
          <a:prstGeom prst="rect">
            <a:avLst/>
          </a:prstGeom>
        </p:spPr>
        <p:txBody>
          <a:bodyPr wrap="square" lIns="0" tIns="0" rIns="0" bIns="0" rtlCol="0" anchor="t">
            <a:spAutoFit/>
          </a:bodyPr>
          <a:lstStyle/>
          <a:p>
            <a:pPr algn="ctr">
              <a:lnSpc>
                <a:spcPts val="12880"/>
              </a:lnSpc>
            </a:pPr>
            <a:r>
              <a:rPr lang="en-US" sz="6000" spc="46" dirty="0">
                <a:solidFill>
                  <a:srgbClr val="F5F6F8"/>
                </a:solidFill>
                <a:latin typeface="Anton"/>
                <a:ea typeface="Anton"/>
                <a:cs typeface="Anton"/>
                <a:sym typeface="Anton"/>
              </a:rPr>
              <a:t>Marketing Campaign Performance</a:t>
            </a:r>
          </a:p>
        </p:txBody>
      </p:sp>
      <p:sp>
        <p:nvSpPr>
          <p:cNvPr id="38" name="TextBox 4">
            <a:extLst>
              <a:ext uri="{FF2B5EF4-FFF2-40B4-BE49-F238E27FC236}">
                <a16:creationId xmlns:a16="http://schemas.microsoft.com/office/drawing/2014/main" id="{21D2BE56-3411-D6A2-1D6D-BD443607A873}"/>
              </a:ext>
            </a:extLst>
          </p:cNvPr>
          <p:cNvSpPr txBox="1"/>
          <p:nvPr/>
        </p:nvSpPr>
        <p:spPr>
          <a:xfrm>
            <a:off x="12420600" y="2761031"/>
            <a:ext cx="1622258" cy="1063689"/>
          </a:xfrm>
          <a:prstGeom prst="rect">
            <a:avLst/>
          </a:prstGeom>
        </p:spPr>
        <p:txBody>
          <a:bodyPr wrap="square" lIns="0" tIns="0" rIns="0" bIns="0" rtlCol="0" anchor="t">
            <a:spAutoFit/>
          </a:bodyPr>
          <a:lstStyle/>
          <a:p>
            <a:pPr algn="ctr">
              <a:lnSpc>
                <a:spcPts val="9847"/>
              </a:lnSpc>
            </a:pPr>
            <a:r>
              <a:rPr lang="en-US" sz="3600" spc="53" dirty="0">
                <a:solidFill>
                  <a:srgbClr val="1C0770"/>
                </a:solidFill>
                <a:latin typeface="Anton"/>
                <a:ea typeface="Anton"/>
                <a:cs typeface="Anton"/>
                <a:sym typeface="Anton"/>
              </a:rPr>
              <a:t>Insight</a:t>
            </a:r>
          </a:p>
        </p:txBody>
      </p:sp>
      <p:sp>
        <p:nvSpPr>
          <p:cNvPr id="39" name="AutoShape 5">
            <a:extLst>
              <a:ext uri="{FF2B5EF4-FFF2-40B4-BE49-F238E27FC236}">
                <a16:creationId xmlns:a16="http://schemas.microsoft.com/office/drawing/2014/main" id="{0E1053C4-FFF5-DA87-1D57-DFEDECF1D84F}"/>
              </a:ext>
            </a:extLst>
          </p:cNvPr>
          <p:cNvSpPr/>
          <p:nvPr/>
        </p:nvSpPr>
        <p:spPr>
          <a:xfrm>
            <a:off x="12564197" y="3824720"/>
            <a:ext cx="4620907" cy="1"/>
          </a:xfrm>
          <a:prstGeom prst="line">
            <a:avLst/>
          </a:prstGeom>
          <a:ln w="38100" cap="flat">
            <a:solidFill>
              <a:srgbClr val="1C0770"/>
            </a:solidFill>
            <a:prstDash val="solid"/>
            <a:headEnd type="none" w="sm" len="sm"/>
            <a:tailEnd type="none" w="sm" len="sm"/>
          </a:ln>
        </p:spPr>
      </p:sp>
      <p:sp>
        <p:nvSpPr>
          <p:cNvPr id="40" name="TextBox 39">
            <a:extLst>
              <a:ext uri="{FF2B5EF4-FFF2-40B4-BE49-F238E27FC236}">
                <a16:creationId xmlns:a16="http://schemas.microsoft.com/office/drawing/2014/main" id="{74605330-E366-ECA8-D468-74FCA4F26F73}"/>
              </a:ext>
            </a:extLst>
          </p:cNvPr>
          <p:cNvSpPr txBox="1"/>
          <p:nvPr/>
        </p:nvSpPr>
        <p:spPr>
          <a:xfrm>
            <a:off x="12564197" y="4100657"/>
            <a:ext cx="5342803" cy="5866221"/>
          </a:xfrm>
          <a:prstGeom prst="rect">
            <a:avLst/>
          </a:prstGeom>
          <a:noFill/>
        </p:spPr>
        <p:txBody>
          <a:bodyPr wrap="square" rtlCol="0">
            <a:spAutoFit/>
          </a:bodyPr>
          <a:lstStyle/>
          <a:p>
            <a:pPr marL="457200" indent="-457200">
              <a:buFont typeface="Arial" panose="020B0604020202020204" pitchFamily="34" charset="0"/>
              <a:buChar char="•"/>
            </a:pPr>
            <a:r>
              <a:rPr lang="en-US" sz="2680" i="0" dirty="0">
                <a:solidFill>
                  <a:srgbClr val="002060"/>
                </a:solidFill>
                <a:effectLst/>
                <a:latin typeface="Poppins" panose="00000500000000000000" pitchFamily="2" charset="0"/>
                <a:cs typeface="Poppins" panose="00000500000000000000" pitchFamily="2" charset="0"/>
              </a:rPr>
              <a:t>The highest conversion rate occurs in December at 90.9%. However, the total number of campaign interactions during this month is relatively low compared to other months. For instance, May recorded the highest volume of campaign outreach with 2,824 customers, yet it only yielded a deposit subscription conversion rate of 32.8%.</a:t>
            </a:r>
          </a:p>
        </p:txBody>
      </p:sp>
      <p:pic>
        <p:nvPicPr>
          <p:cNvPr id="4" name="Picture 3">
            <a:extLst>
              <a:ext uri="{FF2B5EF4-FFF2-40B4-BE49-F238E27FC236}">
                <a16:creationId xmlns:a16="http://schemas.microsoft.com/office/drawing/2014/main" id="{0BFDAE71-6FD4-ADD0-D970-2F7EF5847F1F}"/>
              </a:ext>
            </a:extLst>
          </p:cNvPr>
          <p:cNvPicPr>
            <a:picLocks noChangeAspect="1"/>
          </p:cNvPicPr>
          <p:nvPr/>
        </p:nvPicPr>
        <p:blipFill>
          <a:blip r:embed="rId2"/>
          <a:stretch>
            <a:fillRect/>
          </a:stretch>
        </p:blipFill>
        <p:spPr>
          <a:xfrm>
            <a:off x="828529" y="2760308"/>
            <a:ext cx="9685433" cy="7477125"/>
          </a:xfrm>
          <a:prstGeom prst="rect">
            <a:avLst/>
          </a:prstGeom>
        </p:spPr>
      </p:pic>
    </p:spTree>
    <p:extLst>
      <p:ext uri="{BB962C8B-B14F-4D97-AF65-F5344CB8AC3E}">
        <p14:creationId xmlns:p14="http://schemas.microsoft.com/office/powerpoint/2010/main" val="1296695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grpSp>
        <p:nvGrpSpPr>
          <p:cNvPr id="2" name="Group 2"/>
          <p:cNvGrpSpPr/>
          <p:nvPr/>
        </p:nvGrpSpPr>
        <p:grpSpPr>
          <a:xfrm>
            <a:off x="718964" y="128179"/>
            <a:ext cx="9186716" cy="1754226"/>
            <a:chOff x="0" y="0"/>
            <a:chExt cx="2419547" cy="462018"/>
          </a:xfrm>
        </p:grpSpPr>
        <p:sp>
          <p:nvSpPr>
            <p:cNvPr id="3" name="Freeform 3"/>
            <p:cNvSpPr/>
            <p:nvPr/>
          </p:nvSpPr>
          <p:spPr>
            <a:xfrm>
              <a:off x="0" y="0"/>
              <a:ext cx="2419547" cy="462018"/>
            </a:xfrm>
            <a:prstGeom prst="roundRect">
              <a:avLst/>
            </a:prstGeom>
            <a:solidFill>
              <a:srgbClr val="1C0770"/>
            </a:solidFill>
          </p:spPr>
        </p:sp>
        <p:sp>
          <p:nvSpPr>
            <p:cNvPr id="4" name="TextBox 4"/>
            <p:cNvSpPr txBox="1"/>
            <p:nvPr/>
          </p:nvSpPr>
          <p:spPr>
            <a:xfrm>
              <a:off x="0" y="-66675"/>
              <a:ext cx="2419547" cy="528693"/>
            </a:xfrm>
            <a:prstGeom prst="roundRect">
              <a:avLst/>
            </a:prstGeom>
          </p:spPr>
          <p:txBody>
            <a:bodyPr lIns="50800" tIns="50800" rIns="50800" bIns="50800" rtlCol="0" anchor="ctr"/>
            <a:lstStyle/>
            <a:p>
              <a:pPr algn="ctr">
                <a:lnSpc>
                  <a:spcPts val="3499"/>
                </a:lnSpc>
              </a:pPr>
              <a:endParaRPr/>
            </a:p>
          </p:txBody>
        </p:sp>
      </p:grpSp>
      <p:sp>
        <p:nvSpPr>
          <p:cNvPr id="5" name="TextBox 5"/>
          <p:cNvSpPr txBox="1"/>
          <p:nvPr/>
        </p:nvSpPr>
        <p:spPr>
          <a:xfrm>
            <a:off x="3657600" y="2239934"/>
            <a:ext cx="12496160" cy="1237262"/>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Demographic Profiles: Younger, single, and highly educated customers exhibit a relatively higher deposit subscription conversion rate compared to other demographic groups.</a:t>
            </a:r>
          </a:p>
        </p:txBody>
      </p:sp>
      <p:sp>
        <p:nvSpPr>
          <p:cNvPr id="6" name="TextBox 6"/>
          <p:cNvSpPr txBox="1"/>
          <p:nvPr/>
        </p:nvSpPr>
        <p:spPr>
          <a:xfrm>
            <a:off x="1005757" y="163484"/>
            <a:ext cx="8648700" cy="1462773"/>
          </a:xfrm>
          <a:prstGeom prst="rect">
            <a:avLst/>
          </a:prstGeom>
        </p:spPr>
        <p:txBody>
          <a:bodyPr wrap="square" lIns="0" tIns="0" rIns="0" bIns="0" rtlCol="0" anchor="t">
            <a:spAutoFit/>
          </a:bodyPr>
          <a:lstStyle/>
          <a:p>
            <a:pPr algn="ctr">
              <a:lnSpc>
                <a:spcPts val="12880"/>
              </a:lnSpc>
            </a:pPr>
            <a:r>
              <a:rPr lang="en-US" sz="6600" dirty="0">
                <a:solidFill>
                  <a:srgbClr val="F5F6F8"/>
                </a:solidFill>
                <a:latin typeface="Anton"/>
                <a:ea typeface="Anton"/>
                <a:cs typeface="Anton"/>
                <a:sym typeface="Anton"/>
              </a:rPr>
              <a:t>Conclusion</a:t>
            </a:r>
          </a:p>
        </p:txBody>
      </p:sp>
      <p:grpSp>
        <p:nvGrpSpPr>
          <p:cNvPr id="7" name="Group 7"/>
          <p:cNvGrpSpPr/>
          <p:nvPr/>
        </p:nvGrpSpPr>
        <p:grpSpPr>
          <a:xfrm>
            <a:off x="1751960" y="2255059"/>
            <a:ext cx="1332510" cy="1332510"/>
            <a:chOff x="0" y="0"/>
            <a:chExt cx="1776680" cy="1776680"/>
          </a:xfrm>
        </p:grpSpPr>
        <p:grpSp>
          <p:nvGrpSpPr>
            <p:cNvPr id="8" name="Group 8"/>
            <p:cNvGrpSpPr/>
            <p:nvPr/>
          </p:nvGrpSpPr>
          <p:grpSpPr>
            <a:xfrm>
              <a:off x="0" y="0"/>
              <a:ext cx="1776680" cy="17766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10" name="TextBox 10"/>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11" name="TextBox 11"/>
            <p:cNvSpPr txBox="1"/>
            <p:nvPr/>
          </p:nvSpPr>
          <p:spPr>
            <a:xfrm>
              <a:off x="417293" y="224595"/>
              <a:ext cx="834586" cy="1213191"/>
            </a:xfrm>
            <a:prstGeom prst="rect">
              <a:avLst/>
            </a:prstGeom>
          </p:spPr>
          <p:txBody>
            <a:bodyPr lIns="0" tIns="0" rIns="0" bIns="0" rtlCol="0" anchor="t">
              <a:spAutoFit/>
            </a:bodyPr>
            <a:lstStyle/>
            <a:p>
              <a:pPr algn="ctr">
                <a:lnSpc>
                  <a:spcPts val="7609"/>
                </a:lnSpc>
              </a:pPr>
              <a:r>
                <a:rPr lang="en-US" sz="5435">
                  <a:solidFill>
                    <a:srgbClr val="1C0770"/>
                  </a:solidFill>
                  <a:latin typeface="Anton"/>
                  <a:ea typeface="Anton"/>
                  <a:cs typeface="Anton"/>
                  <a:sym typeface="Anton"/>
                </a:rPr>
                <a:t>1</a:t>
              </a:r>
            </a:p>
          </p:txBody>
        </p:sp>
      </p:grpSp>
      <p:grpSp>
        <p:nvGrpSpPr>
          <p:cNvPr id="12" name="Group 12"/>
          <p:cNvGrpSpPr/>
          <p:nvPr/>
        </p:nvGrpSpPr>
        <p:grpSpPr>
          <a:xfrm>
            <a:off x="1751960" y="3942575"/>
            <a:ext cx="1332510" cy="1332510"/>
            <a:chOff x="0" y="0"/>
            <a:chExt cx="1776680" cy="1776680"/>
          </a:xfrm>
        </p:grpSpPr>
        <p:grpSp>
          <p:nvGrpSpPr>
            <p:cNvPr id="13" name="Group 13"/>
            <p:cNvGrpSpPr/>
            <p:nvPr/>
          </p:nvGrpSpPr>
          <p:grpSpPr>
            <a:xfrm>
              <a:off x="0" y="0"/>
              <a:ext cx="1776680" cy="17766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15" name="TextBox 15"/>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471047" y="224595"/>
              <a:ext cx="834586" cy="1213191"/>
            </a:xfrm>
            <a:prstGeom prst="rect">
              <a:avLst/>
            </a:prstGeom>
          </p:spPr>
          <p:txBody>
            <a:bodyPr lIns="0" tIns="0" rIns="0" bIns="0" rtlCol="0" anchor="t">
              <a:spAutoFit/>
            </a:bodyPr>
            <a:lstStyle/>
            <a:p>
              <a:pPr algn="ctr">
                <a:lnSpc>
                  <a:spcPts val="7609"/>
                </a:lnSpc>
              </a:pPr>
              <a:r>
                <a:rPr lang="en-US" sz="5435">
                  <a:solidFill>
                    <a:srgbClr val="1C0770"/>
                  </a:solidFill>
                  <a:latin typeface="Anton"/>
                  <a:ea typeface="Anton"/>
                  <a:cs typeface="Anton"/>
                  <a:sym typeface="Anton"/>
                </a:rPr>
                <a:t>2</a:t>
              </a:r>
            </a:p>
          </p:txBody>
        </p:sp>
      </p:grpSp>
      <p:grpSp>
        <p:nvGrpSpPr>
          <p:cNvPr id="17" name="Group 17"/>
          <p:cNvGrpSpPr/>
          <p:nvPr/>
        </p:nvGrpSpPr>
        <p:grpSpPr>
          <a:xfrm>
            <a:off x="1751960" y="5551309"/>
            <a:ext cx="1332510" cy="1332510"/>
            <a:chOff x="0" y="0"/>
            <a:chExt cx="1776680" cy="1776680"/>
          </a:xfrm>
        </p:grpSpPr>
        <p:grpSp>
          <p:nvGrpSpPr>
            <p:cNvPr id="18" name="Group 18"/>
            <p:cNvGrpSpPr/>
            <p:nvPr/>
          </p:nvGrpSpPr>
          <p:grpSpPr>
            <a:xfrm>
              <a:off x="0" y="0"/>
              <a:ext cx="1776680" cy="177668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20" name="TextBox 20"/>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21" name="TextBox 21"/>
            <p:cNvSpPr txBox="1"/>
            <p:nvPr/>
          </p:nvSpPr>
          <p:spPr>
            <a:xfrm>
              <a:off x="471047" y="224595"/>
              <a:ext cx="834586" cy="1213191"/>
            </a:xfrm>
            <a:prstGeom prst="rect">
              <a:avLst/>
            </a:prstGeom>
          </p:spPr>
          <p:txBody>
            <a:bodyPr lIns="0" tIns="0" rIns="0" bIns="0" rtlCol="0" anchor="t">
              <a:spAutoFit/>
            </a:bodyPr>
            <a:lstStyle/>
            <a:p>
              <a:pPr algn="ctr">
                <a:lnSpc>
                  <a:spcPts val="7609"/>
                </a:lnSpc>
              </a:pPr>
              <a:r>
                <a:rPr lang="en-US" sz="5435">
                  <a:solidFill>
                    <a:srgbClr val="1C0770"/>
                  </a:solidFill>
                  <a:latin typeface="Anton"/>
                  <a:ea typeface="Anton"/>
                  <a:cs typeface="Anton"/>
                  <a:sym typeface="Anton"/>
                </a:rPr>
                <a:t>3</a:t>
              </a:r>
            </a:p>
          </p:txBody>
        </p:sp>
      </p:grpSp>
      <p:sp>
        <p:nvSpPr>
          <p:cNvPr id="28" name="TextBox 28"/>
          <p:cNvSpPr txBox="1"/>
          <p:nvPr/>
        </p:nvSpPr>
        <p:spPr>
          <a:xfrm>
            <a:off x="3657600" y="3920317"/>
            <a:ext cx="12496160" cy="1237262"/>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Financial Health: Customers with a high balance show a high conversion rate. Additionally, those without personal loans, housing loans, and histories of credit default also demonstrate elevated conversion rates.</a:t>
            </a:r>
          </a:p>
        </p:txBody>
      </p:sp>
      <p:sp>
        <p:nvSpPr>
          <p:cNvPr id="29" name="TextBox 29"/>
          <p:cNvSpPr txBox="1"/>
          <p:nvPr/>
        </p:nvSpPr>
        <p:spPr>
          <a:xfrm>
            <a:off x="3657600" y="5600700"/>
            <a:ext cx="12496160" cy="1649682"/>
          </a:xfrm>
          <a:prstGeom prst="rect">
            <a:avLst/>
          </a:prstGeom>
        </p:spPr>
        <p:txBody>
          <a:bodyPr wrap="square" lIns="0" tIns="0" rIns="0" bIns="0" rtlCol="0" anchor="t">
            <a:spAutoFit/>
          </a:bodyPr>
          <a:lstStyle/>
          <a:p>
            <a:pPr algn="l"/>
            <a:r>
              <a:rPr lang="en-US" sz="2680" b="0" i="0">
                <a:solidFill>
                  <a:srgbClr val="002060"/>
                </a:solidFill>
                <a:effectLst/>
                <a:latin typeface="Poppins" panose="00000500000000000000" pitchFamily="2" charset="0"/>
                <a:cs typeface="Poppins" panose="00000500000000000000" pitchFamily="2" charset="0"/>
              </a:rPr>
              <a:t>Campaign Frequency: The highest conversion rate occurs during the first contact at 53.4%, which then tends to decline as the number of follow-ups increases. This indicates that campaigns are most effective when limited to 1 to 3 contacts.</a:t>
            </a:r>
            <a:endParaRPr lang="en-US" sz="2680" b="0" i="0" dirty="0">
              <a:solidFill>
                <a:srgbClr val="002060"/>
              </a:solidFill>
              <a:effectLst/>
              <a:latin typeface="Poppins" panose="00000500000000000000" pitchFamily="2" charset="0"/>
              <a:cs typeface="Poppins" panose="00000500000000000000" pitchFamily="2" charset="0"/>
            </a:endParaRPr>
          </a:p>
        </p:txBody>
      </p:sp>
      <p:sp>
        <p:nvSpPr>
          <p:cNvPr id="31" name="Freeform 31"/>
          <p:cNvSpPr/>
          <p:nvPr/>
        </p:nvSpPr>
        <p:spPr>
          <a:xfrm rot="-6297183">
            <a:off x="-2446175" y="7406883"/>
            <a:ext cx="5365533" cy="3209564"/>
          </a:xfrm>
          <a:custGeom>
            <a:avLst/>
            <a:gdLst/>
            <a:ahLst/>
            <a:cxnLst/>
            <a:rect l="l" t="t" r="r" b="b"/>
            <a:pathLst>
              <a:path w="5365533" h="3209564">
                <a:moveTo>
                  <a:pt x="0" y="0"/>
                </a:moveTo>
                <a:lnTo>
                  <a:pt x="5365533" y="0"/>
                </a:lnTo>
                <a:lnTo>
                  <a:pt x="5365533" y="3209564"/>
                </a:lnTo>
                <a:lnTo>
                  <a:pt x="0" y="3209564"/>
                </a:lnTo>
                <a:lnTo>
                  <a:pt x="0" y="0"/>
                </a:lnTo>
                <a:close/>
              </a:path>
            </a:pathLst>
          </a:custGeom>
          <a:blipFill>
            <a:blip r:embed="rId2"/>
            <a:stretch>
              <a:fillRect/>
            </a:stretch>
          </a:blipFill>
        </p:spPr>
      </p:sp>
      <p:sp>
        <p:nvSpPr>
          <p:cNvPr id="32" name="Freeform 32"/>
          <p:cNvSpPr/>
          <p:nvPr/>
        </p:nvSpPr>
        <p:spPr>
          <a:xfrm rot="8454883">
            <a:off x="15194196" y="7508473"/>
            <a:ext cx="5365533" cy="3209564"/>
          </a:xfrm>
          <a:custGeom>
            <a:avLst/>
            <a:gdLst/>
            <a:ahLst/>
            <a:cxnLst/>
            <a:rect l="l" t="t" r="r" b="b"/>
            <a:pathLst>
              <a:path w="5365533" h="3209564">
                <a:moveTo>
                  <a:pt x="0" y="0"/>
                </a:moveTo>
                <a:lnTo>
                  <a:pt x="5365533" y="0"/>
                </a:lnTo>
                <a:lnTo>
                  <a:pt x="5365533" y="3209564"/>
                </a:lnTo>
                <a:lnTo>
                  <a:pt x="0" y="3209564"/>
                </a:lnTo>
                <a:lnTo>
                  <a:pt x="0" y="0"/>
                </a:lnTo>
                <a:close/>
              </a:path>
            </a:pathLst>
          </a:custGeom>
          <a:blipFill>
            <a:blip r:embed="rId2"/>
            <a:stretch>
              <a:fillRect/>
            </a:stretch>
          </a:blipFill>
        </p:spPr>
      </p:sp>
      <p:grpSp>
        <p:nvGrpSpPr>
          <p:cNvPr id="33" name="Group 17">
            <a:extLst>
              <a:ext uri="{FF2B5EF4-FFF2-40B4-BE49-F238E27FC236}">
                <a16:creationId xmlns:a16="http://schemas.microsoft.com/office/drawing/2014/main" id="{2D1632EC-93E2-466F-B720-F5136856EFA9}"/>
              </a:ext>
            </a:extLst>
          </p:cNvPr>
          <p:cNvGrpSpPr/>
          <p:nvPr/>
        </p:nvGrpSpPr>
        <p:grpSpPr>
          <a:xfrm>
            <a:off x="1751960" y="7525834"/>
            <a:ext cx="1332510" cy="1332510"/>
            <a:chOff x="0" y="0"/>
            <a:chExt cx="1776680" cy="1776680"/>
          </a:xfrm>
        </p:grpSpPr>
        <p:grpSp>
          <p:nvGrpSpPr>
            <p:cNvPr id="34" name="Group 18">
              <a:extLst>
                <a:ext uri="{FF2B5EF4-FFF2-40B4-BE49-F238E27FC236}">
                  <a16:creationId xmlns:a16="http://schemas.microsoft.com/office/drawing/2014/main" id="{B82BDC70-614D-D936-64FB-ED8691A2E1C6}"/>
                </a:ext>
              </a:extLst>
            </p:cNvPr>
            <p:cNvGrpSpPr/>
            <p:nvPr/>
          </p:nvGrpSpPr>
          <p:grpSpPr>
            <a:xfrm>
              <a:off x="0" y="0"/>
              <a:ext cx="1776680" cy="1776680"/>
              <a:chOff x="0" y="0"/>
              <a:chExt cx="812800" cy="812800"/>
            </a:xfrm>
          </p:grpSpPr>
          <p:sp>
            <p:nvSpPr>
              <p:cNvPr id="36" name="Freeform 19">
                <a:extLst>
                  <a:ext uri="{FF2B5EF4-FFF2-40B4-BE49-F238E27FC236}">
                    <a16:creationId xmlns:a16="http://schemas.microsoft.com/office/drawing/2014/main" id="{63D635A6-630B-0BCB-3C58-5C8A7A641C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37" name="TextBox 20">
                <a:extLst>
                  <a:ext uri="{FF2B5EF4-FFF2-40B4-BE49-F238E27FC236}">
                    <a16:creationId xmlns:a16="http://schemas.microsoft.com/office/drawing/2014/main" id="{8FAAE750-D288-7942-9925-855667B63DE4}"/>
                  </a:ext>
                </a:extLst>
              </p:cNvPr>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35" name="TextBox 21">
              <a:extLst>
                <a:ext uri="{FF2B5EF4-FFF2-40B4-BE49-F238E27FC236}">
                  <a16:creationId xmlns:a16="http://schemas.microsoft.com/office/drawing/2014/main" id="{4CB614A1-2946-140F-A51E-D2E3D09CE8D4}"/>
                </a:ext>
              </a:extLst>
            </p:cNvPr>
            <p:cNvSpPr txBox="1"/>
            <p:nvPr/>
          </p:nvSpPr>
          <p:spPr>
            <a:xfrm>
              <a:off x="471047" y="224595"/>
              <a:ext cx="834586" cy="1213191"/>
            </a:xfrm>
            <a:prstGeom prst="rect">
              <a:avLst/>
            </a:prstGeom>
          </p:spPr>
          <p:txBody>
            <a:bodyPr lIns="0" tIns="0" rIns="0" bIns="0" rtlCol="0" anchor="t">
              <a:spAutoFit/>
            </a:bodyPr>
            <a:lstStyle/>
            <a:p>
              <a:pPr algn="ctr">
                <a:lnSpc>
                  <a:spcPts val="7609"/>
                </a:lnSpc>
              </a:pPr>
              <a:r>
                <a:rPr lang="en-US" sz="5435" dirty="0">
                  <a:solidFill>
                    <a:srgbClr val="1C0770"/>
                  </a:solidFill>
                  <a:latin typeface="Anton"/>
                  <a:ea typeface="Anton"/>
                  <a:cs typeface="Anton"/>
                  <a:sym typeface="Anton"/>
                </a:rPr>
                <a:t>4</a:t>
              </a:r>
            </a:p>
          </p:txBody>
        </p:sp>
      </p:grpSp>
      <p:sp>
        <p:nvSpPr>
          <p:cNvPr id="38" name="TextBox 29">
            <a:extLst>
              <a:ext uri="{FF2B5EF4-FFF2-40B4-BE49-F238E27FC236}">
                <a16:creationId xmlns:a16="http://schemas.microsoft.com/office/drawing/2014/main" id="{A610195E-5D9E-99AC-6C2D-EB26EF3C3917}"/>
              </a:ext>
            </a:extLst>
          </p:cNvPr>
          <p:cNvSpPr txBox="1"/>
          <p:nvPr/>
        </p:nvSpPr>
        <p:spPr>
          <a:xfrm>
            <a:off x="3657600" y="7575225"/>
            <a:ext cx="12496160" cy="2474524"/>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Seasonal Timing: The best months for campaign execution are March, September, October, and December, as they yield relatively higher conversion rates compared to other months. However, because the actual volume of campaign interactions in these months is relatively low, this high conversion rate should be interpreted with caution regarding the sample size.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8D74E-08C4-2B69-27DF-388A81DA315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8EE743-444B-0AD1-2012-354241103E10}"/>
              </a:ext>
            </a:extLst>
          </p:cNvPr>
          <p:cNvGrpSpPr/>
          <p:nvPr/>
        </p:nvGrpSpPr>
        <p:grpSpPr>
          <a:xfrm>
            <a:off x="718964" y="128179"/>
            <a:ext cx="9186716" cy="1754226"/>
            <a:chOff x="0" y="0"/>
            <a:chExt cx="2419547" cy="462018"/>
          </a:xfrm>
        </p:grpSpPr>
        <p:sp>
          <p:nvSpPr>
            <p:cNvPr id="3" name="Freeform 3">
              <a:extLst>
                <a:ext uri="{FF2B5EF4-FFF2-40B4-BE49-F238E27FC236}">
                  <a16:creationId xmlns:a16="http://schemas.microsoft.com/office/drawing/2014/main" id="{0C52F724-1AFE-473A-6FCF-467DD9F5922B}"/>
                </a:ext>
              </a:extLst>
            </p:cNvPr>
            <p:cNvSpPr/>
            <p:nvPr/>
          </p:nvSpPr>
          <p:spPr>
            <a:xfrm>
              <a:off x="0" y="0"/>
              <a:ext cx="2419547" cy="462018"/>
            </a:xfrm>
            <a:prstGeom prst="roundRect">
              <a:avLst/>
            </a:prstGeom>
            <a:solidFill>
              <a:srgbClr val="1C0770"/>
            </a:solidFill>
          </p:spPr>
        </p:sp>
        <p:sp>
          <p:nvSpPr>
            <p:cNvPr id="4" name="TextBox 4">
              <a:extLst>
                <a:ext uri="{FF2B5EF4-FFF2-40B4-BE49-F238E27FC236}">
                  <a16:creationId xmlns:a16="http://schemas.microsoft.com/office/drawing/2014/main" id="{05CD8421-76F1-3599-A3B1-91641AF620C9}"/>
                </a:ext>
              </a:extLst>
            </p:cNvPr>
            <p:cNvSpPr txBox="1"/>
            <p:nvPr/>
          </p:nvSpPr>
          <p:spPr>
            <a:xfrm>
              <a:off x="0" y="-66675"/>
              <a:ext cx="2419547" cy="528693"/>
            </a:xfrm>
            <a:prstGeom prst="roundRect">
              <a:avLst/>
            </a:prstGeom>
          </p:spPr>
          <p:txBody>
            <a:bodyPr lIns="50800" tIns="50800" rIns="50800" bIns="50800" rtlCol="0" anchor="ctr"/>
            <a:lstStyle/>
            <a:p>
              <a:pPr algn="ctr">
                <a:lnSpc>
                  <a:spcPts val="3499"/>
                </a:lnSpc>
              </a:pPr>
              <a:endParaRPr/>
            </a:p>
          </p:txBody>
        </p:sp>
      </p:grpSp>
      <p:sp>
        <p:nvSpPr>
          <p:cNvPr id="5" name="TextBox 5">
            <a:extLst>
              <a:ext uri="{FF2B5EF4-FFF2-40B4-BE49-F238E27FC236}">
                <a16:creationId xmlns:a16="http://schemas.microsoft.com/office/drawing/2014/main" id="{2C2BFADB-5C6F-D93D-F7A0-9FAABB90D113}"/>
              </a:ext>
            </a:extLst>
          </p:cNvPr>
          <p:cNvSpPr txBox="1"/>
          <p:nvPr/>
        </p:nvSpPr>
        <p:spPr>
          <a:xfrm>
            <a:off x="2319296" y="2203865"/>
            <a:ext cx="12496160" cy="2886944"/>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Target Customer Prioritization: Campaign efforts should prioritize customer segments that meet the following criteria :</a:t>
            </a:r>
          </a:p>
          <a:p>
            <a:pPr marL="914400" lvl="1" indent="-457200">
              <a:buFont typeface="Arial" panose="020B0604020202020204" pitchFamily="34" charset="0"/>
              <a:buChar char="•"/>
            </a:pPr>
            <a:r>
              <a:rPr lang="en-US" sz="2680" dirty="0">
                <a:solidFill>
                  <a:srgbClr val="002060"/>
                </a:solidFill>
                <a:latin typeface="Poppins" panose="00000500000000000000" pitchFamily="2" charset="0"/>
                <a:cs typeface="Poppins" panose="00000500000000000000" pitchFamily="2" charset="0"/>
              </a:rPr>
              <a:t>Younger age groups (18-25)</a:t>
            </a:r>
          </a:p>
          <a:p>
            <a:pPr marL="914400" lvl="1" indent="-457200">
              <a:buFont typeface="Arial" panose="020B0604020202020204" pitchFamily="34" charset="0"/>
              <a:buChar char="•"/>
            </a:pPr>
            <a:r>
              <a:rPr lang="en-US" sz="2680" dirty="0">
                <a:solidFill>
                  <a:srgbClr val="002060"/>
                </a:solidFill>
                <a:latin typeface="Poppins" panose="00000500000000000000" pitchFamily="2" charset="0"/>
                <a:cs typeface="Poppins" panose="00000500000000000000" pitchFamily="2" charset="0"/>
              </a:rPr>
              <a:t>Highly educated individuals</a:t>
            </a:r>
          </a:p>
          <a:p>
            <a:pPr marL="914400" lvl="1" indent="-457200">
              <a:buFont typeface="Arial" panose="020B0604020202020204" pitchFamily="34" charset="0"/>
              <a:buChar char="•"/>
            </a:pPr>
            <a:r>
              <a:rPr lang="en-US" sz="2680" dirty="0">
                <a:solidFill>
                  <a:srgbClr val="002060"/>
                </a:solidFill>
                <a:latin typeface="Poppins" panose="00000500000000000000" pitchFamily="2" charset="0"/>
                <a:cs typeface="Poppins" panose="00000500000000000000" pitchFamily="2" charset="0"/>
              </a:rPr>
              <a:t>Single marital status</a:t>
            </a:r>
          </a:p>
          <a:p>
            <a:pPr marL="914400" lvl="1" indent="-457200">
              <a:buFont typeface="Arial" panose="020B0604020202020204" pitchFamily="34" charset="0"/>
              <a:buChar char="•"/>
            </a:pPr>
            <a:r>
              <a:rPr lang="en-US" sz="2680" dirty="0">
                <a:solidFill>
                  <a:srgbClr val="002060"/>
                </a:solidFill>
                <a:latin typeface="Poppins" panose="00000500000000000000" pitchFamily="2" charset="0"/>
                <a:cs typeface="Poppins" panose="00000500000000000000" pitchFamily="2" charset="0"/>
              </a:rPr>
              <a:t>High account balances</a:t>
            </a:r>
          </a:p>
          <a:p>
            <a:pPr marL="914400" lvl="1" indent="-457200">
              <a:buFont typeface="Arial" panose="020B0604020202020204" pitchFamily="34" charset="0"/>
              <a:buChar char="•"/>
            </a:pPr>
            <a:r>
              <a:rPr lang="en-US" sz="2680" dirty="0">
                <a:solidFill>
                  <a:srgbClr val="002060"/>
                </a:solidFill>
                <a:latin typeface="Poppins" panose="00000500000000000000" pitchFamily="2" charset="0"/>
                <a:cs typeface="Poppins" panose="00000500000000000000" pitchFamily="2" charset="0"/>
              </a:rPr>
              <a:t>No housing loans, personal loans, or histories of credit default.</a:t>
            </a:r>
            <a:endParaRPr lang="en-US" sz="2680" b="0" i="0" dirty="0">
              <a:solidFill>
                <a:srgbClr val="002060"/>
              </a:solidFill>
              <a:effectLst/>
              <a:latin typeface="Poppins" panose="00000500000000000000" pitchFamily="2" charset="0"/>
              <a:cs typeface="Poppins" panose="00000500000000000000" pitchFamily="2" charset="0"/>
            </a:endParaRPr>
          </a:p>
        </p:txBody>
      </p:sp>
      <p:sp>
        <p:nvSpPr>
          <p:cNvPr id="6" name="TextBox 6">
            <a:extLst>
              <a:ext uri="{FF2B5EF4-FFF2-40B4-BE49-F238E27FC236}">
                <a16:creationId xmlns:a16="http://schemas.microsoft.com/office/drawing/2014/main" id="{A1D77BEC-FDED-73E9-2B51-DCD9BB5B8C30}"/>
              </a:ext>
            </a:extLst>
          </p:cNvPr>
          <p:cNvSpPr txBox="1"/>
          <p:nvPr/>
        </p:nvSpPr>
        <p:spPr>
          <a:xfrm>
            <a:off x="1005757" y="163484"/>
            <a:ext cx="8648700" cy="1462773"/>
          </a:xfrm>
          <a:prstGeom prst="rect">
            <a:avLst/>
          </a:prstGeom>
        </p:spPr>
        <p:txBody>
          <a:bodyPr wrap="square" lIns="0" tIns="0" rIns="0" bIns="0" rtlCol="0" anchor="t">
            <a:spAutoFit/>
          </a:bodyPr>
          <a:lstStyle/>
          <a:p>
            <a:pPr algn="ctr">
              <a:lnSpc>
                <a:spcPts val="12880"/>
              </a:lnSpc>
            </a:pPr>
            <a:r>
              <a:rPr lang="en-US" sz="6600" dirty="0">
                <a:solidFill>
                  <a:srgbClr val="F5F6F8"/>
                </a:solidFill>
                <a:latin typeface="Anton"/>
                <a:ea typeface="Anton"/>
                <a:cs typeface="Anton"/>
                <a:sym typeface="Anton"/>
              </a:rPr>
              <a:t>Recommendations</a:t>
            </a:r>
          </a:p>
        </p:txBody>
      </p:sp>
      <p:grpSp>
        <p:nvGrpSpPr>
          <p:cNvPr id="7" name="Group 7">
            <a:extLst>
              <a:ext uri="{FF2B5EF4-FFF2-40B4-BE49-F238E27FC236}">
                <a16:creationId xmlns:a16="http://schemas.microsoft.com/office/drawing/2014/main" id="{675D3D8F-8360-1495-D398-7520FE5EA0BA}"/>
              </a:ext>
            </a:extLst>
          </p:cNvPr>
          <p:cNvGrpSpPr/>
          <p:nvPr/>
        </p:nvGrpSpPr>
        <p:grpSpPr>
          <a:xfrm>
            <a:off x="559000" y="1950367"/>
            <a:ext cx="1332510" cy="1332510"/>
            <a:chOff x="0" y="0"/>
            <a:chExt cx="1776680" cy="1776680"/>
          </a:xfrm>
        </p:grpSpPr>
        <p:grpSp>
          <p:nvGrpSpPr>
            <p:cNvPr id="8" name="Group 8">
              <a:extLst>
                <a:ext uri="{FF2B5EF4-FFF2-40B4-BE49-F238E27FC236}">
                  <a16:creationId xmlns:a16="http://schemas.microsoft.com/office/drawing/2014/main" id="{7D2F0C1B-0FC5-1EAF-C494-6F2F4B0472CD}"/>
                </a:ext>
              </a:extLst>
            </p:cNvPr>
            <p:cNvGrpSpPr/>
            <p:nvPr/>
          </p:nvGrpSpPr>
          <p:grpSpPr>
            <a:xfrm>
              <a:off x="0" y="0"/>
              <a:ext cx="1776680" cy="1776680"/>
              <a:chOff x="0" y="0"/>
              <a:chExt cx="812800" cy="812800"/>
            </a:xfrm>
          </p:grpSpPr>
          <p:sp>
            <p:nvSpPr>
              <p:cNvPr id="9" name="Freeform 9">
                <a:extLst>
                  <a:ext uri="{FF2B5EF4-FFF2-40B4-BE49-F238E27FC236}">
                    <a16:creationId xmlns:a16="http://schemas.microsoft.com/office/drawing/2014/main" id="{402C1E22-4E15-4ECE-61CF-6513D6C1CF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10" name="TextBox 10">
                <a:extLst>
                  <a:ext uri="{FF2B5EF4-FFF2-40B4-BE49-F238E27FC236}">
                    <a16:creationId xmlns:a16="http://schemas.microsoft.com/office/drawing/2014/main" id="{88DCF7B7-89C5-EF8D-18E3-1FF4B987A6AF}"/>
                  </a:ext>
                </a:extLst>
              </p:cNvPr>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11" name="TextBox 11">
              <a:extLst>
                <a:ext uri="{FF2B5EF4-FFF2-40B4-BE49-F238E27FC236}">
                  <a16:creationId xmlns:a16="http://schemas.microsoft.com/office/drawing/2014/main" id="{FBF8D0AD-F90A-8572-E86F-5BB0B66EA138}"/>
                </a:ext>
              </a:extLst>
            </p:cNvPr>
            <p:cNvSpPr txBox="1"/>
            <p:nvPr/>
          </p:nvSpPr>
          <p:spPr>
            <a:xfrm>
              <a:off x="417293" y="224595"/>
              <a:ext cx="834586" cy="1213191"/>
            </a:xfrm>
            <a:prstGeom prst="rect">
              <a:avLst/>
            </a:prstGeom>
          </p:spPr>
          <p:txBody>
            <a:bodyPr lIns="0" tIns="0" rIns="0" bIns="0" rtlCol="0" anchor="t">
              <a:spAutoFit/>
            </a:bodyPr>
            <a:lstStyle/>
            <a:p>
              <a:pPr algn="ctr">
                <a:lnSpc>
                  <a:spcPts val="7609"/>
                </a:lnSpc>
              </a:pPr>
              <a:r>
                <a:rPr lang="en-US" sz="5435">
                  <a:solidFill>
                    <a:srgbClr val="1C0770"/>
                  </a:solidFill>
                  <a:latin typeface="Anton"/>
                  <a:ea typeface="Anton"/>
                  <a:cs typeface="Anton"/>
                  <a:sym typeface="Anton"/>
                </a:rPr>
                <a:t>1</a:t>
              </a:r>
            </a:p>
          </p:txBody>
        </p:sp>
      </p:grpSp>
      <p:sp>
        <p:nvSpPr>
          <p:cNvPr id="31" name="Freeform 31">
            <a:extLst>
              <a:ext uri="{FF2B5EF4-FFF2-40B4-BE49-F238E27FC236}">
                <a16:creationId xmlns:a16="http://schemas.microsoft.com/office/drawing/2014/main" id="{ABA4E482-55E6-42EB-3730-3071C49E683B}"/>
              </a:ext>
            </a:extLst>
          </p:cNvPr>
          <p:cNvSpPr/>
          <p:nvPr/>
        </p:nvSpPr>
        <p:spPr>
          <a:xfrm rot="-6297183">
            <a:off x="-2817551" y="7764841"/>
            <a:ext cx="5365533" cy="3209564"/>
          </a:xfrm>
          <a:custGeom>
            <a:avLst/>
            <a:gdLst/>
            <a:ahLst/>
            <a:cxnLst/>
            <a:rect l="l" t="t" r="r" b="b"/>
            <a:pathLst>
              <a:path w="5365533" h="3209564">
                <a:moveTo>
                  <a:pt x="0" y="0"/>
                </a:moveTo>
                <a:lnTo>
                  <a:pt x="5365533" y="0"/>
                </a:lnTo>
                <a:lnTo>
                  <a:pt x="5365533" y="3209564"/>
                </a:lnTo>
                <a:lnTo>
                  <a:pt x="0" y="3209564"/>
                </a:lnTo>
                <a:lnTo>
                  <a:pt x="0" y="0"/>
                </a:lnTo>
                <a:close/>
              </a:path>
            </a:pathLst>
          </a:custGeom>
          <a:blipFill>
            <a:blip r:embed="rId2"/>
            <a:stretch>
              <a:fillRect/>
            </a:stretch>
          </a:blipFill>
        </p:spPr>
      </p:sp>
      <p:sp>
        <p:nvSpPr>
          <p:cNvPr id="32" name="Freeform 32">
            <a:extLst>
              <a:ext uri="{FF2B5EF4-FFF2-40B4-BE49-F238E27FC236}">
                <a16:creationId xmlns:a16="http://schemas.microsoft.com/office/drawing/2014/main" id="{4E8B782E-239B-59C2-AA8F-F13A0BED9518}"/>
              </a:ext>
            </a:extLst>
          </p:cNvPr>
          <p:cNvSpPr/>
          <p:nvPr/>
        </p:nvSpPr>
        <p:spPr>
          <a:xfrm rot="8454883">
            <a:off x="15194196" y="7508473"/>
            <a:ext cx="5365533" cy="3209564"/>
          </a:xfrm>
          <a:custGeom>
            <a:avLst/>
            <a:gdLst/>
            <a:ahLst/>
            <a:cxnLst/>
            <a:rect l="l" t="t" r="r" b="b"/>
            <a:pathLst>
              <a:path w="5365533" h="3209564">
                <a:moveTo>
                  <a:pt x="0" y="0"/>
                </a:moveTo>
                <a:lnTo>
                  <a:pt x="5365533" y="0"/>
                </a:lnTo>
                <a:lnTo>
                  <a:pt x="5365533" y="3209564"/>
                </a:lnTo>
                <a:lnTo>
                  <a:pt x="0" y="3209564"/>
                </a:lnTo>
                <a:lnTo>
                  <a:pt x="0" y="0"/>
                </a:lnTo>
                <a:close/>
              </a:path>
            </a:pathLst>
          </a:custGeom>
          <a:blipFill>
            <a:blip r:embed="rId2"/>
            <a:stretch>
              <a:fillRect/>
            </a:stretch>
          </a:blipFill>
        </p:spPr>
      </p:sp>
      <p:grpSp>
        <p:nvGrpSpPr>
          <p:cNvPr id="22" name="Group 7">
            <a:extLst>
              <a:ext uri="{FF2B5EF4-FFF2-40B4-BE49-F238E27FC236}">
                <a16:creationId xmlns:a16="http://schemas.microsoft.com/office/drawing/2014/main" id="{05DE9947-AC33-AA71-C13C-D657350BCFB1}"/>
              </a:ext>
            </a:extLst>
          </p:cNvPr>
          <p:cNvGrpSpPr/>
          <p:nvPr/>
        </p:nvGrpSpPr>
        <p:grpSpPr>
          <a:xfrm>
            <a:off x="563960" y="5067300"/>
            <a:ext cx="1332510" cy="1332510"/>
            <a:chOff x="0" y="0"/>
            <a:chExt cx="1776680" cy="1776680"/>
          </a:xfrm>
        </p:grpSpPr>
        <p:grpSp>
          <p:nvGrpSpPr>
            <p:cNvPr id="23" name="Group 8">
              <a:extLst>
                <a:ext uri="{FF2B5EF4-FFF2-40B4-BE49-F238E27FC236}">
                  <a16:creationId xmlns:a16="http://schemas.microsoft.com/office/drawing/2014/main" id="{9C2793A4-0001-EE8B-85D8-A41D15C604E5}"/>
                </a:ext>
              </a:extLst>
            </p:cNvPr>
            <p:cNvGrpSpPr/>
            <p:nvPr/>
          </p:nvGrpSpPr>
          <p:grpSpPr>
            <a:xfrm>
              <a:off x="0" y="0"/>
              <a:ext cx="1776680" cy="1776680"/>
              <a:chOff x="0" y="0"/>
              <a:chExt cx="812800" cy="812800"/>
            </a:xfrm>
          </p:grpSpPr>
          <p:sp>
            <p:nvSpPr>
              <p:cNvPr id="25" name="Freeform 9">
                <a:extLst>
                  <a:ext uri="{FF2B5EF4-FFF2-40B4-BE49-F238E27FC236}">
                    <a16:creationId xmlns:a16="http://schemas.microsoft.com/office/drawing/2014/main" id="{5F7EF1E2-2655-875E-B43F-CD452EEA90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26" name="TextBox 10">
                <a:extLst>
                  <a:ext uri="{FF2B5EF4-FFF2-40B4-BE49-F238E27FC236}">
                    <a16:creationId xmlns:a16="http://schemas.microsoft.com/office/drawing/2014/main" id="{2F95BFFF-442F-3011-219C-CE1CD4961308}"/>
                  </a:ext>
                </a:extLst>
              </p:cNvPr>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24" name="TextBox 11">
              <a:extLst>
                <a:ext uri="{FF2B5EF4-FFF2-40B4-BE49-F238E27FC236}">
                  <a16:creationId xmlns:a16="http://schemas.microsoft.com/office/drawing/2014/main" id="{8B1C11C7-1DBC-6424-EC6D-152A37C17295}"/>
                </a:ext>
              </a:extLst>
            </p:cNvPr>
            <p:cNvSpPr txBox="1"/>
            <p:nvPr/>
          </p:nvSpPr>
          <p:spPr>
            <a:xfrm>
              <a:off x="417293" y="224595"/>
              <a:ext cx="834586" cy="1213191"/>
            </a:xfrm>
            <a:prstGeom prst="rect">
              <a:avLst/>
            </a:prstGeom>
          </p:spPr>
          <p:txBody>
            <a:bodyPr lIns="0" tIns="0" rIns="0" bIns="0" rtlCol="0" anchor="t">
              <a:spAutoFit/>
            </a:bodyPr>
            <a:lstStyle/>
            <a:p>
              <a:pPr algn="ctr">
                <a:lnSpc>
                  <a:spcPts val="7609"/>
                </a:lnSpc>
              </a:pPr>
              <a:r>
                <a:rPr lang="en-US" sz="5435" dirty="0">
                  <a:solidFill>
                    <a:srgbClr val="1C0770"/>
                  </a:solidFill>
                  <a:latin typeface="Anton"/>
                  <a:ea typeface="Anton"/>
                  <a:cs typeface="Anton"/>
                  <a:sym typeface="Anton"/>
                </a:rPr>
                <a:t>2</a:t>
              </a:r>
            </a:p>
          </p:txBody>
        </p:sp>
      </p:grpSp>
      <p:sp>
        <p:nvSpPr>
          <p:cNvPr id="30" name="TextBox 5">
            <a:extLst>
              <a:ext uri="{FF2B5EF4-FFF2-40B4-BE49-F238E27FC236}">
                <a16:creationId xmlns:a16="http://schemas.microsoft.com/office/drawing/2014/main" id="{72FC17D2-C604-3718-6A31-79B53EEDFDAA}"/>
              </a:ext>
            </a:extLst>
          </p:cNvPr>
          <p:cNvSpPr txBox="1"/>
          <p:nvPr/>
        </p:nvSpPr>
        <p:spPr>
          <a:xfrm>
            <a:off x="2319296" y="5208532"/>
            <a:ext cx="12496160" cy="1649682"/>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Contact Frequency Optimization: Prioritize achieving campaign success within the first 1 to 3 contacts. If a customer remains uninterested after 3 contacts, consider reallocating resources to other high-potential prospects.</a:t>
            </a:r>
          </a:p>
        </p:txBody>
      </p:sp>
      <p:grpSp>
        <p:nvGrpSpPr>
          <p:cNvPr id="39" name="Group 7">
            <a:extLst>
              <a:ext uri="{FF2B5EF4-FFF2-40B4-BE49-F238E27FC236}">
                <a16:creationId xmlns:a16="http://schemas.microsoft.com/office/drawing/2014/main" id="{E0702B24-A8BE-F576-43B0-2CE2187F6CB3}"/>
              </a:ext>
            </a:extLst>
          </p:cNvPr>
          <p:cNvGrpSpPr/>
          <p:nvPr/>
        </p:nvGrpSpPr>
        <p:grpSpPr>
          <a:xfrm>
            <a:off x="563960" y="6782790"/>
            <a:ext cx="1332510" cy="1332510"/>
            <a:chOff x="0" y="0"/>
            <a:chExt cx="1776680" cy="1776680"/>
          </a:xfrm>
        </p:grpSpPr>
        <p:grpSp>
          <p:nvGrpSpPr>
            <p:cNvPr id="40" name="Group 8">
              <a:extLst>
                <a:ext uri="{FF2B5EF4-FFF2-40B4-BE49-F238E27FC236}">
                  <a16:creationId xmlns:a16="http://schemas.microsoft.com/office/drawing/2014/main" id="{C8B907EC-008E-CC5E-22B9-665E5061EA58}"/>
                </a:ext>
              </a:extLst>
            </p:cNvPr>
            <p:cNvGrpSpPr/>
            <p:nvPr/>
          </p:nvGrpSpPr>
          <p:grpSpPr>
            <a:xfrm>
              <a:off x="0" y="0"/>
              <a:ext cx="1776680" cy="1776680"/>
              <a:chOff x="0" y="0"/>
              <a:chExt cx="812800" cy="812800"/>
            </a:xfrm>
          </p:grpSpPr>
          <p:sp>
            <p:nvSpPr>
              <p:cNvPr id="42" name="Freeform 9">
                <a:extLst>
                  <a:ext uri="{FF2B5EF4-FFF2-40B4-BE49-F238E27FC236}">
                    <a16:creationId xmlns:a16="http://schemas.microsoft.com/office/drawing/2014/main" id="{89194237-A9C5-F5DE-8C8F-EFAA06A86C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43" name="TextBox 10">
                <a:extLst>
                  <a:ext uri="{FF2B5EF4-FFF2-40B4-BE49-F238E27FC236}">
                    <a16:creationId xmlns:a16="http://schemas.microsoft.com/office/drawing/2014/main" id="{4B15C3AD-589A-473B-6A48-D12C9ED8CDFC}"/>
                  </a:ext>
                </a:extLst>
              </p:cNvPr>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41" name="TextBox 11">
              <a:extLst>
                <a:ext uri="{FF2B5EF4-FFF2-40B4-BE49-F238E27FC236}">
                  <a16:creationId xmlns:a16="http://schemas.microsoft.com/office/drawing/2014/main" id="{249CFF34-A8CE-872D-C8D0-8105B69A4A92}"/>
                </a:ext>
              </a:extLst>
            </p:cNvPr>
            <p:cNvSpPr txBox="1"/>
            <p:nvPr/>
          </p:nvSpPr>
          <p:spPr>
            <a:xfrm>
              <a:off x="417293" y="224595"/>
              <a:ext cx="834586" cy="1213191"/>
            </a:xfrm>
            <a:prstGeom prst="rect">
              <a:avLst/>
            </a:prstGeom>
          </p:spPr>
          <p:txBody>
            <a:bodyPr lIns="0" tIns="0" rIns="0" bIns="0" rtlCol="0" anchor="t">
              <a:spAutoFit/>
            </a:bodyPr>
            <a:lstStyle/>
            <a:p>
              <a:pPr algn="ctr">
                <a:lnSpc>
                  <a:spcPts val="7609"/>
                </a:lnSpc>
              </a:pPr>
              <a:r>
                <a:rPr lang="en-US" sz="5435" dirty="0">
                  <a:solidFill>
                    <a:srgbClr val="1C0770"/>
                  </a:solidFill>
                  <a:latin typeface="Anton"/>
                  <a:ea typeface="Anton"/>
                  <a:cs typeface="Anton"/>
                  <a:sym typeface="Anton"/>
                </a:rPr>
                <a:t>3</a:t>
              </a:r>
            </a:p>
          </p:txBody>
        </p:sp>
      </p:grpSp>
      <p:sp>
        <p:nvSpPr>
          <p:cNvPr id="44" name="TextBox 5">
            <a:extLst>
              <a:ext uri="{FF2B5EF4-FFF2-40B4-BE49-F238E27FC236}">
                <a16:creationId xmlns:a16="http://schemas.microsoft.com/office/drawing/2014/main" id="{91800A7D-655F-2338-FDCE-DA0836C873F0}"/>
              </a:ext>
            </a:extLst>
          </p:cNvPr>
          <p:cNvSpPr txBox="1"/>
          <p:nvPr/>
        </p:nvSpPr>
        <p:spPr>
          <a:xfrm>
            <a:off x="2319296" y="7035019"/>
            <a:ext cx="12496160" cy="824841"/>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Communication Channel Strategy: Prioritize the use of cellular communication channels, as they yield a higher conversion rate.</a:t>
            </a:r>
          </a:p>
        </p:txBody>
      </p:sp>
      <p:grpSp>
        <p:nvGrpSpPr>
          <p:cNvPr id="45" name="Group 7">
            <a:extLst>
              <a:ext uri="{FF2B5EF4-FFF2-40B4-BE49-F238E27FC236}">
                <a16:creationId xmlns:a16="http://schemas.microsoft.com/office/drawing/2014/main" id="{4CE5E08A-AEDE-F296-43E7-9B3477EED089}"/>
              </a:ext>
            </a:extLst>
          </p:cNvPr>
          <p:cNvGrpSpPr/>
          <p:nvPr/>
        </p:nvGrpSpPr>
        <p:grpSpPr>
          <a:xfrm>
            <a:off x="563960" y="8459190"/>
            <a:ext cx="1332510" cy="1332510"/>
            <a:chOff x="0" y="0"/>
            <a:chExt cx="1776680" cy="1776680"/>
          </a:xfrm>
        </p:grpSpPr>
        <p:grpSp>
          <p:nvGrpSpPr>
            <p:cNvPr id="46" name="Group 8">
              <a:extLst>
                <a:ext uri="{FF2B5EF4-FFF2-40B4-BE49-F238E27FC236}">
                  <a16:creationId xmlns:a16="http://schemas.microsoft.com/office/drawing/2014/main" id="{0177250C-F2C6-659B-5F7D-849F7EC502C5}"/>
                </a:ext>
              </a:extLst>
            </p:cNvPr>
            <p:cNvGrpSpPr/>
            <p:nvPr/>
          </p:nvGrpSpPr>
          <p:grpSpPr>
            <a:xfrm>
              <a:off x="0" y="0"/>
              <a:ext cx="1776680" cy="1776680"/>
              <a:chOff x="0" y="0"/>
              <a:chExt cx="812800" cy="812800"/>
            </a:xfrm>
          </p:grpSpPr>
          <p:sp>
            <p:nvSpPr>
              <p:cNvPr id="48" name="Freeform 9">
                <a:extLst>
                  <a:ext uri="{FF2B5EF4-FFF2-40B4-BE49-F238E27FC236}">
                    <a16:creationId xmlns:a16="http://schemas.microsoft.com/office/drawing/2014/main" id="{28AB56B8-6DB9-430D-BAB5-58687136C7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C0770"/>
                </a:solidFill>
                <a:prstDash val="solid"/>
                <a:miter/>
              </a:ln>
            </p:spPr>
          </p:sp>
          <p:sp>
            <p:nvSpPr>
              <p:cNvPr id="49" name="TextBox 10">
                <a:extLst>
                  <a:ext uri="{FF2B5EF4-FFF2-40B4-BE49-F238E27FC236}">
                    <a16:creationId xmlns:a16="http://schemas.microsoft.com/office/drawing/2014/main" id="{4D99372C-A6FF-9C8A-EEC1-D5A4153EAFE7}"/>
                  </a:ext>
                </a:extLst>
              </p:cNvPr>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sp>
          <p:nvSpPr>
            <p:cNvPr id="47" name="TextBox 11">
              <a:extLst>
                <a:ext uri="{FF2B5EF4-FFF2-40B4-BE49-F238E27FC236}">
                  <a16:creationId xmlns:a16="http://schemas.microsoft.com/office/drawing/2014/main" id="{9CBA6425-6F22-53F8-18ED-51549747CCA8}"/>
                </a:ext>
              </a:extLst>
            </p:cNvPr>
            <p:cNvSpPr txBox="1"/>
            <p:nvPr/>
          </p:nvSpPr>
          <p:spPr>
            <a:xfrm>
              <a:off x="417293" y="224595"/>
              <a:ext cx="834586" cy="1213191"/>
            </a:xfrm>
            <a:prstGeom prst="rect">
              <a:avLst/>
            </a:prstGeom>
          </p:spPr>
          <p:txBody>
            <a:bodyPr lIns="0" tIns="0" rIns="0" bIns="0" rtlCol="0" anchor="t">
              <a:spAutoFit/>
            </a:bodyPr>
            <a:lstStyle/>
            <a:p>
              <a:pPr algn="ctr">
                <a:lnSpc>
                  <a:spcPts val="7609"/>
                </a:lnSpc>
              </a:pPr>
              <a:r>
                <a:rPr lang="en-US" sz="5435" dirty="0">
                  <a:solidFill>
                    <a:srgbClr val="1C0770"/>
                  </a:solidFill>
                  <a:latin typeface="Anton"/>
                  <a:ea typeface="Anton"/>
                  <a:cs typeface="Anton"/>
                  <a:sym typeface="Anton"/>
                </a:rPr>
                <a:t>4</a:t>
              </a:r>
            </a:p>
          </p:txBody>
        </p:sp>
      </p:grpSp>
      <p:sp>
        <p:nvSpPr>
          <p:cNvPr id="50" name="TextBox 5">
            <a:extLst>
              <a:ext uri="{FF2B5EF4-FFF2-40B4-BE49-F238E27FC236}">
                <a16:creationId xmlns:a16="http://schemas.microsoft.com/office/drawing/2014/main" id="{D3606BAD-EF2D-AF28-AAC6-8776E926C6B9}"/>
              </a:ext>
            </a:extLst>
          </p:cNvPr>
          <p:cNvSpPr txBox="1"/>
          <p:nvPr/>
        </p:nvSpPr>
        <p:spPr>
          <a:xfrm>
            <a:off x="2319296" y="8600422"/>
            <a:ext cx="12496160" cy="824841"/>
          </a:xfrm>
          <a:prstGeom prst="rect">
            <a:avLst/>
          </a:prstGeom>
        </p:spPr>
        <p:txBody>
          <a:bodyPr wrap="square" lIns="0" tIns="0" rIns="0" bIns="0" rtlCol="0" anchor="t">
            <a:spAutoFit/>
          </a:bodyPr>
          <a:lstStyle/>
          <a:p>
            <a:pPr algn="l"/>
            <a:r>
              <a:rPr lang="en-US" sz="2680" b="0" i="0" dirty="0">
                <a:solidFill>
                  <a:srgbClr val="002060"/>
                </a:solidFill>
                <a:effectLst/>
                <a:latin typeface="Poppins" panose="00000500000000000000" pitchFamily="2" charset="0"/>
                <a:cs typeface="Poppins" panose="00000500000000000000" pitchFamily="2" charset="0"/>
              </a:rPr>
              <a:t>Campaign Timing: Schedule and optimize campaign rollout timelines to align with the peak periods identified in the analysis.</a:t>
            </a:r>
          </a:p>
        </p:txBody>
      </p:sp>
    </p:spTree>
    <p:extLst>
      <p:ext uri="{BB962C8B-B14F-4D97-AF65-F5344CB8AC3E}">
        <p14:creationId xmlns:p14="http://schemas.microsoft.com/office/powerpoint/2010/main" val="380711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ECE3-9CD9-63CA-96C7-B286D2333E26}"/>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083C717A-EF44-B0C7-E4DD-049FBE32247F}"/>
              </a:ext>
            </a:extLst>
          </p:cNvPr>
          <p:cNvSpPr txBox="1"/>
          <p:nvPr/>
        </p:nvSpPr>
        <p:spPr>
          <a:xfrm>
            <a:off x="1044742" y="4725235"/>
            <a:ext cx="16230600" cy="1302664"/>
          </a:xfrm>
          <a:prstGeom prst="rect">
            <a:avLst/>
          </a:prstGeom>
        </p:spPr>
        <p:txBody>
          <a:bodyPr wrap="square" lIns="0" tIns="0" rIns="0" bIns="0" rtlCol="0" anchor="t">
            <a:spAutoFit/>
          </a:bodyPr>
          <a:lstStyle/>
          <a:p>
            <a:pPr algn="ctr">
              <a:lnSpc>
                <a:spcPts val="9847"/>
              </a:lnSpc>
            </a:pPr>
            <a:r>
              <a:rPr lang="en-US" sz="10704" spc="53" dirty="0">
                <a:solidFill>
                  <a:srgbClr val="1C0770"/>
                </a:solidFill>
                <a:latin typeface="Anton"/>
                <a:ea typeface="Anton"/>
                <a:cs typeface="Anton"/>
                <a:sym typeface="Anton"/>
              </a:rPr>
              <a:t>DASHBOARD</a:t>
            </a:r>
          </a:p>
        </p:txBody>
      </p:sp>
      <p:sp>
        <p:nvSpPr>
          <p:cNvPr id="5" name="AutoShape 5">
            <a:extLst>
              <a:ext uri="{FF2B5EF4-FFF2-40B4-BE49-F238E27FC236}">
                <a16:creationId xmlns:a16="http://schemas.microsoft.com/office/drawing/2014/main" id="{B7485B12-A6EC-88E5-188F-4158ADEFAA98}"/>
              </a:ext>
            </a:extLst>
          </p:cNvPr>
          <p:cNvSpPr/>
          <p:nvPr/>
        </p:nvSpPr>
        <p:spPr>
          <a:xfrm flipV="1">
            <a:off x="1028700" y="6112061"/>
            <a:ext cx="16230600" cy="22039"/>
          </a:xfrm>
          <a:prstGeom prst="line">
            <a:avLst/>
          </a:prstGeom>
          <a:ln w="38100" cap="flat">
            <a:solidFill>
              <a:srgbClr val="1C0770"/>
            </a:solidFill>
            <a:prstDash val="solid"/>
            <a:headEnd type="none" w="sm" len="sm"/>
            <a:tailEnd type="none" w="sm" len="sm"/>
          </a:ln>
        </p:spPr>
      </p:sp>
    </p:spTree>
    <p:extLst>
      <p:ext uri="{BB962C8B-B14F-4D97-AF65-F5344CB8AC3E}">
        <p14:creationId xmlns:p14="http://schemas.microsoft.com/office/powerpoint/2010/main" val="2995336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71E7-B201-6A6F-0ABF-7269BD6770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48D0D3-16F8-C541-FF4B-D1D792D90D16}"/>
              </a:ext>
            </a:extLst>
          </p:cNvPr>
          <p:cNvPicPr>
            <a:picLocks noChangeAspect="1"/>
          </p:cNvPicPr>
          <p:nvPr/>
        </p:nvPicPr>
        <p:blipFill>
          <a:blip r:embed="rId2"/>
          <a:stretch>
            <a:fillRect/>
          </a:stretch>
        </p:blipFill>
        <p:spPr>
          <a:xfrm>
            <a:off x="4532752" y="348975"/>
            <a:ext cx="9222496" cy="9589049"/>
          </a:xfrm>
          <a:prstGeom prst="rect">
            <a:avLst/>
          </a:prstGeom>
        </p:spPr>
      </p:pic>
    </p:spTree>
    <p:extLst>
      <p:ext uri="{BB962C8B-B14F-4D97-AF65-F5344CB8AC3E}">
        <p14:creationId xmlns:p14="http://schemas.microsoft.com/office/powerpoint/2010/main" val="2863308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Freeform 2"/>
          <p:cNvSpPr/>
          <p:nvPr/>
        </p:nvSpPr>
        <p:spPr>
          <a:xfrm>
            <a:off x="3458518" y="1179513"/>
            <a:ext cx="4920510" cy="5030261"/>
          </a:xfrm>
          <a:custGeom>
            <a:avLst/>
            <a:gdLst/>
            <a:ahLst/>
            <a:cxnLst/>
            <a:rect l="l" t="t" r="r" b="b"/>
            <a:pathLst>
              <a:path w="4920510" h="5030261">
                <a:moveTo>
                  <a:pt x="0" y="0"/>
                </a:moveTo>
                <a:lnTo>
                  <a:pt x="4920510" y="0"/>
                </a:lnTo>
                <a:lnTo>
                  <a:pt x="4920510" y="5030261"/>
                </a:lnTo>
                <a:lnTo>
                  <a:pt x="0" y="5030261"/>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4617398" y="2791483"/>
            <a:ext cx="6812907" cy="2196263"/>
            <a:chOff x="0" y="0"/>
            <a:chExt cx="9083876" cy="2928351"/>
          </a:xfrm>
        </p:grpSpPr>
        <p:grpSp>
          <p:nvGrpSpPr>
            <p:cNvPr id="4" name="Group 4"/>
            <p:cNvGrpSpPr/>
            <p:nvPr/>
          </p:nvGrpSpPr>
          <p:grpSpPr>
            <a:xfrm>
              <a:off x="266026" y="0"/>
              <a:ext cx="8817851" cy="2928351"/>
              <a:chOff x="0" y="0"/>
              <a:chExt cx="1425509" cy="473402"/>
            </a:xfrm>
          </p:grpSpPr>
          <p:sp>
            <p:nvSpPr>
              <p:cNvPr id="5" name="Freeform 5"/>
              <p:cNvSpPr/>
              <p:nvPr/>
            </p:nvSpPr>
            <p:spPr>
              <a:xfrm>
                <a:off x="0" y="0"/>
                <a:ext cx="1425509" cy="473402"/>
              </a:xfrm>
              <a:custGeom>
                <a:avLst/>
                <a:gdLst/>
                <a:ahLst/>
                <a:cxnLst/>
                <a:rect l="l" t="t" r="r" b="b"/>
                <a:pathLst>
                  <a:path w="1425509" h="473402">
                    <a:moveTo>
                      <a:pt x="0" y="0"/>
                    </a:moveTo>
                    <a:lnTo>
                      <a:pt x="1425509" y="0"/>
                    </a:lnTo>
                    <a:lnTo>
                      <a:pt x="1425509" y="473402"/>
                    </a:lnTo>
                    <a:lnTo>
                      <a:pt x="0" y="473402"/>
                    </a:lnTo>
                    <a:close/>
                  </a:path>
                </a:pathLst>
              </a:custGeom>
              <a:solidFill>
                <a:srgbClr val="1C0770"/>
              </a:solidFill>
            </p:spPr>
          </p:sp>
          <p:sp>
            <p:nvSpPr>
              <p:cNvPr id="6" name="TextBox 6"/>
              <p:cNvSpPr txBox="1"/>
              <p:nvPr/>
            </p:nvSpPr>
            <p:spPr>
              <a:xfrm>
                <a:off x="0" y="-76200"/>
                <a:ext cx="1425509" cy="549602"/>
              </a:xfrm>
              <a:prstGeom prst="rect">
                <a:avLst/>
              </a:prstGeom>
            </p:spPr>
            <p:txBody>
              <a:bodyPr lIns="50800" tIns="50800" rIns="50800" bIns="50800" rtlCol="0" anchor="ctr"/>
              <a:lstStyle/>
              <a:p>
                <a:pPr algn="ctr">
                  <a:lnSpc>
                    <a:spcPts val="3500"/>
                  </a:lnSpc>
                </a:pPr>
                <a:endParaRPr/>
              </a:p>
            </p:txBody>
          </p:sp>
        </p:grpSp>
        <p:sp>
          <p:nvSpPr>
            <p:cNvPr id="7" name="TextBox 7"/>
            <p:cNvSpPr txBox="1"/>
            <p:nvPr/>
          </p:nvSpPr>
          <p:spPr>
            <a:xfrm>
              <a:off x="0" y="185860"/>
              <a:ext cx="9083876" cy="2502195"/>
            </a:xfrm>
            <a:prstGeom prst="rect">
              <a:avLst/>
            </a:prstGeom>
          </p:spPr>
          <p:txBody>
            <a:bodyPr lIns="0" tIns="0" rIns="0" bIns="0" rtlCol="0" anchor="t">
              <a:spAutoFit/>
            </a:bodyPr>
            <a:lstStyle/>
            <a:p>
              <a:pPr algn="ctr">
                <a:lnSpc>
                  <a:spcPts val="15737"/>
                </a:lnSpc>
              </a:pPr>
              <a:r>
                <a:rPr lang="en-US" sz="11241" spc="56">
                  <a:solidFill>
                    <a:srgbClr val="F5F6F8"/>
                  </a:solidFill>
                  <a:latin typeface="Anton"/>
                  <a:ea typeface="Anton"/>
                  <a:cs typeface="Anton"/>
                  <a:sym typeface="Anton"/>
                </a:rPr>
                <a:t>THANK YOU</a:t>
              </a:r>
            </a:p>
          </p:txBody>
        </p:sp>
      </p:grpSp>
      <p:sp>
        <p:nvSpPr>
          <p:cNvPr id="8" name="Freeform 8"/>
          <p:cNvSpPr/>
          <p:nvPr/>
        </p:nvSpPr>
        <p:spPr>
          <a:xfrm rot="-1671337">
            <a:off x="-1654067" y="-527151"/>
            <a:ext cx="5365533" cy="3209564"/>
          </a:xfrm>
          <a:custGeom>
            <a:avLst/>
            <a:gdLst/>
            <a:ahLst/>
            <a:cxnLst/>
            <a:rect l="l" t="t" r="r" b="b"/>
            <a:pathLst>
              <a:path w="5365533" h="3209564">
                <a:moveTo>
                  <a:pt x="0" y="0"/>
                </a:moveTo>
                <a:lnTo>
                  <a:pt x="5365534" y="0"/>
                </a:lnTo>
                <a:lnTo>
                  <a:pt x="5365534" y="3209564"/>
                </a:lnTo>
                <a:lnTo>
                  <a:pt x="0" y="3209564"/>
                </a:lnTo>
                <a:lnTo>
                  <a:pt x="0" y="0"/>
                </a:lnTo>
                <a:close/>
              </a:path>
            </a:pathLst>
          </a:custGeom>
          <a:blipFill>
            <a:blip r:embed="rId3"/>
            <a:stretch>
              <a:fillRect/>
            </a:stretch>
          </a:blipFill>
        </p:spPr>
      </p:sp>
      <p:sp>
        <p:nvSpPr>
          <p:cNvPr id="13" name="Freeform 13"/>
          <p:cNvSpPr/>
          <p:nvPr/>
        </p:nvSpPr>
        <p:spPr>
          <a:xfrm rot="7791994">
            <a:off x="14837968" y="7408362"/>
            <a:ext cx="5670528" cy="3392007"/>
          </a:xfrm>
          <a:custGeom>
            <a:avLst/>
            <a:gdLst/>
            <a:ahLst/>
            <a:cxnLst/>
            <a:rect l="l" t="t" r="r" b="b"/>
            <a:pathLst>
              <a:path w="5670528" h="3392007">
                <a:moveTo>
                  <a:pt x="0" y="0"/>
                </a:moveTo>
                <a:lnTo>
                  <a:pt x="5670529" y="0"/>
                </a:lnTo>
                <a:lnTo>
                  <a:pt x="5670529" y="3392007"/>
                </a:lnTo>
                <a:lnTo>
                  <a:pt x="0" y="3392007"/>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TotalTime>
  <Words>963</Words>
  <Application>Microsoft Office PowerPoint</Application>
  <PresentationFormat>Custom</PresentationFormat>
  <Paragraphs>95</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Anton</vt: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Blue White and Black Clean Modern Social Media Presentation</dc:title>
  <dc:creator>ASUS</dc:creator>
  <cp:lastModifiedBy>user</cp:lastModifiedBy>
  <cp:revision>15</cp:revision>
  <dcterms:created xsi:type="dcterms:W3CDTF">2006-08-16T00:00:00Z</dcterms:created>
  <dcterms:modified xsi:type="dcterms:W3CDTF">2026-07-18T19:52:15Z</dcterms:modified>
  <dc:identifier>DAHGcdgGrnI</dc:identifier>
</cp:coreProperties>
</file>